
<file path=[Content_Types].xml><?xml version="1.0" encoding="utf-8"?>
<Types xmlns="http://schemas.openxmlformats.org/package/2006/content-types"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5" r:id="rId11"/>
    <p:sldId id="262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8" userDrawn="1">
          <p15:clr>
            <a:srgbClr val="A4A3A4"/>
          </p15:clr>
        </p15:guide>
        <p15:guide id="2" pos="386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48"/>
        <p:guide pos="3868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3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4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6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7.xml"/><Relationship Id="rId4" Type="http://schemas.openxmlformats.org/officeDocument/2006/relationships/image" Target="../media/image14.png"/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8.xml"/><Relationship Id="rId2" Type="http://schemas.openxmlformats.org/officeDocument/2006/relationships/image" Target="../media/image15.png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69.xml"/><Relationship Id="rId4" Type="http://schemas.openxmlformats.org/officeDocument/2006/relationships/image" Target="../media/image17.png"/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.xml"/><Relationship Id="rId5" Type="http://schemas.openxmlformats.org/officeDocument/2006/relationships/tags" Target="../tags/tag70.xml"/><Relationship Id="rId4" Type="http://schemas.openxmlformats.org/officeDocument/2006/relationships/image" Target="../media/image19.png"/><Relationship Id="rId3" Type="http://schemas.openxmlformats.org/officeDocument/2006/relationships/image" Target="../media/image18.png"/><Relationship Id="rId2" Type="http://schemas.openxmlformats.org/officeDocument/2006/relationships/image" Target="../media/image7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71.xml"/><Relationship Id="rId2" Type="http://schemas.openxmlformats.org/officeDocument/2006/relationships/image" Target="../media/image2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png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image" Target="../media/image21.png"/><Relationship Id="rId5" Type="http://schemas.openxmlformats.org/officeDocument/2006/relationships/tags" Target="../tags/tag75.xml"/><Relationship Id="rId4" Type="http://schemas.openxmlformats.org/officeDocument/2006/relationships/image" Target="../media/image2.png"/><Relationship Id="rId3" Type="http://schemas.openxmlformats.org/officeDocument/2006/relationships/tags" Target="../tags/tag74.xml"/><Relationship Id="rId29" Type="http://schemas.openxmlformats.org/officeDocument/2006/relationships/slideLayout" Target="../slideLayouts/slideLayout1.xml"/><Relationship Id="rId28" Type="http://schemas.openxmlformats.org/officeDocument/2006/relationships/tags" Target="../tags/tag90.xml"/><Relationship Id="rId27" Type="http://schemas.openxmlformats.org/officeDocument/2006/relationships/image" Target="../media/image26.png"/><Relationship Id="rId26" Type="http://schemas.openxmlformats.org/officeDocument/2006/relationships/image" Target="../media/image25.png"/><Relationship Id="rId25" Type="http://schemas.openxmlformats.org/officeDocument/2006/relationships/image" Target="../media/image16.png"/><Relationship Id="rId24" Type="http://schemas.openxmlformats.org/officeDocument/2006/relationships/tags" Target="../tags/tag89.xml"/><Relationship Id="rId23" Type="http://schemas.openxmlformats.org/officeDocument/2006/relationships/tags" Target="../tags/tag88.xml"/><Relationship Id="rId22" Type="http://schemas.openxmlformats.org/officeDocument/2006/relationships/tags" Target="../tags/tag87.xml"/><Relationship Id="rId21" Type="http://schemas.openxmlformats.org/officeDocument/2006/relationships/tags" Target="../tags/tag86.xml"/><Relationship Id="rId20" Type="http://schemas.openxmlformats.org/officeDocument/2006/relationships/tags" Target="../tags/tag85.xml"/><Relationship Id="rId2" Type="http://schemas.openxmlformats.org/officeDocument/2006/relationships/tags" Target="../tags/tag73.xml"/><Relationship Id="rId19" Type="http://schemas.openxmlformats.org/officeDocument/2006/relationships/tags" Target="../tags/tag84.xml"/><Relationship Id="rId18" Type="http://schemas.openxmlformats.org/officeDocument/2006/relationships/image" Target="../media/image24.png"/><Relationship Id="rId17" Type="http://schemas.openxmlformats.org/officeDocument/2006/relationships/tags" Target="../tags/tag83.xml"/><Relationship Id="rId16" Type="http://schemas.openxmlformats.org/officeDocument/2006/relationships/image" Target="../media/image23.png"/><Relationship Id="rId15" Type="http://schemas.openxmlformats.org/officeDocument/2006/relationships/tags" Target="../tags/tag82.xml"/><Relationship Id="rId14" Type="http://schemas.openxmlformats.org/officeDocument/2006/relationships/tags" Target="../tags/tag81.xml"/><Relationship Id="rId13" Type="http://schemas.openxmlformats.org/officeDocument/2006/relationships/image" Target="../media/image11.png"/><Relationship Id="rId12" Type="http://schemas.openxmlformats.org/officeDocument/2006/relationships/tags" Target="../tags/tag80.xml"/><Relationship Id="rId11" Type="http://schemas.openxmlformats.org/officeDocument/2006/relationships/tags" Target="../tags/tag79.xml"/><Relationship Id="rId10" Type="http://schemas.openxmlformats.org/officeDocument/2006/relationships/tags" Target="../tags/tag78.xml"/><Relationship Id="rId1" Type="http://schemas.openxmlformats.org/officeDocument/2006/relationships/tags" Target="../tags/tag7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1.xml"/><Relationship Id="rId2" Type="http://schemas.openxmlformats.org/officeDocument/2006/relationships/image" Target="../media/image28.png"/><Relationship Id="rId1" Type="http://schemas.openxmlformats.org/officeDocument/2006/relationships/image" Target="../media/image27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92.xml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3.xml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.xml"/><Relationship Id="rId5" Type="http://schemas.openxmlformats.org/officeDocument/2006/relationships/tags" Target="../tags/tag94.xml"/><Relationship Id="rId4" Type="http://schemas.openxmlformats.org/officeDocument/2006/relationships/image" Target="../media/image38.png"/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image" Target="../media/image35.pn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1.png"/><Relationship Id="rId8" Type="http://schemas.microsoft.com/office/2007/relationships/media" Target="../media/media3.mp4"/><Relationship Id="rId7" Type="http://schemas.openxmlformats.org/officeDocument/2006/relationships/video" Target="../media/media3.mp4"/><Relationship Id="rId6" Type="http://schemas.openxmlformats.org/officeDocument/2006/relationships/image" Target="../media/image40.png"/><Relationship Id="rId5" Type="http://schemas.microsoft.com/office/2007/relationships/media" Target="../media/media2.mp4"/><Relationship Id="rId4" Type="http://schemas.openxmlformats.org/officeDocument/2006/relationships/video" Target="../media/media2.mp4"/><Relationship Id="rId3" Type="http://schemas.openxmlformats.org/officeDocument/2006/relationships/image" Target="../media/image39.png"/><Relationship Id="rId2" Type="http://schemas.microsoft.com/office/2007/relationships/media" Target="../media/media1.mp4"/><Relationship Id="rId11" Type="http://schemas.openxmlformats.org/officeDocument/2006/relationships/slideLayout" Target="../slideLayouts/slideLayout2.xml"/><Relationship Id="rId10" Type="http://schemas.openxmlformats.org/officeDocument/2006/relationships/tags" Target="../tags/tag95.xml"/><Relationship Id="rId1" Type="http://schemas.openxmlformats.org/officeDocument/2006/relationships/video" Target="../media/media1.mp4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7323" y="584200"/>
            <a:ext cx="5760000" cy="2331645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323" y="2915920"/>
            <a:ext cx="5760000" cy="23316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160" y="584200"/>
            <a:ext cx="5760000" cy="23316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3160" y="2915920"/>
            <a:ext cx="5760000" cy="23316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228725" y="25400"/>
            <a:ext cx="9807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Nidhal's experimental data was inverted using the </a:t>
            </a:r>
            <a:r>
              <a:rPr lang="en-US" altLang="zh-CN">
                <a:solidFill>
                  <a:srgbClr val="0000FF"/>
                </a:solidFill>
              </a:rPr>
              <a:t>BRD algorithm</a:t>
            </a:r>
            <a:r>
              <a:rPr lang="en-US" altLang="zh-CN"/>
              <a:t> via the </a:t>
            </a:r>
            <a:r>
              <a:rPr lang="en-US" altLang="zh-CN">
                <a:solidFill>
                  <a:srgbClr val="0000FF"/>
                </a:solidFill>
              </a:rPr>
              <a:t>laboratory software</a:t>
            </a:r>
            <a:endParaRPr lang="en-US" altLang="zh-CN">
              <a:solidFill>
                <a:srgbClr val="0000FF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28725" y="5288280"/>
            <a:ext cx="9807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Nidhal's experimental data was inverted using the </a:t>
            </a:r>
            <a:r>
              <a:rPr lang="en-US" altLang="zh-CN">
                <a:solidFill>
                  <a:srgbClr val="0000FF"/>
                </a:solidFill>
              </a:rPr>
              <a:t>NNLS algorithm</a:t>
            </a:r>
            <a:r>
              <a:rPr lang="en-US" altLang="zh-CN"/>
              <a:t> via the </a:t>
            </a:r>
            <a:r>
              <a:rPr lang="en-US" altLang="zh-CN">
                <a:solidFill>
                  <a:srgbClr val="0000FF"/>
                </a:solidFill>
              </a:rPr>
              <a:t>Bin’s code</a:t>
            </a:r>
            <a:endParaRPr lang="en-US" altLang="zh-CN">
              <a:solidFill>
                <a:srgbClr val="0000FF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606280" y="5621020"/>
            <a:ext cx="254063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NUM_BINS = 200</a:t>
            </a:r>
            <a:endParaRPr lang="en-US" altLang="zh-CN"/>
          </a:p>
          <a:p>
            <a:r>
              <a:rPr lang="en-US" altLang="zh-CN"/>
              <a:t>REG_PARAM = 0.01</a:t>
            </a:r>
            <a:endParaRPr lang="en-US" altLang="zh-CN"/>
          </a:p>
          <a:p>
            <a:r>
              <a:rPr lang="en-US" altLang="zh-CN"/>
              <a:t>T2_MIN_MS = 1e-2</a:t>
            </a:r>
            <a:endParaRPr lang="en-US" altLang="zh-CN"/>
          </a:p>
          <a:p>
            <a:r>
              <a:rPr lang="en-US" altLang="zh-CN"/>
              <a:t>T2_MAX_MS = 1e5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499360" y="5656580"/>
            <a:ext cx="254063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NUM_BINS = 200</a:t>
            </a:r>
            <a:endParaRPr lang="en-US" altLang="zh-CN"/>
          </a:p>
          <a:p>
            <a:r>
              <a:rPr lang="en-US" altLang="zh-CN"/>
              <a:t>REG_PARAM = 0.1</a:t>
            </a:r>
            <a:endParaRPr lang="en-US" altLang="zh-CN"/>
          </a:p>
          <a:p>
            <a:r>
              <a:rPr lang="en-US" altLang="zh-CN"/>
              <a:t>T2_MIN_MS = 1e-2</a:t>
            </a:r>
            <a:endParaRPr lang="en-US" altLang="zh-CN"/>
          </a:p>
          <a:p>
            <a:r>
              <a:rPr lang="en-US" altLang="zh-CN"/>
              <a:t>T2_MAX_MS = 1e5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0960" y="5897880"/>
            <a:ext cx="27432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0000FF"/>
                </a:solidFill>
                <a:sym typeface="+mn-ea"/>
              </a:rPr>
              <a:t>BRD algorithm</a:t>
            </a:r>
            <a:r>
              <a:rPr lang="en-US" altLang="zh-CN">
                <a:sym typeface="+mn-ea"/>
              </a:rPr>
              <a:t> via the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 </a:t>
            </a:r>
            <a:r>
              <a:rPr lang="en-US" altLang="zh-CN">
                <a:solidFill>
                  <a:srgbClr val="0000FF"/>
                </a:solidFill>
                <a:sym typeface="+mn-ea"/>
              </a:rPr>
              <a:t>laboratory software</a:t>
            </a:r>
            <a:endParaRPr lang="en-US" altLang="zh-CN">
              <a:solidFill>
                <a:srgbClr val="0000FF"/>
              </a:solidFill>
              <a:sym typeface="+mn-ea"/>
            </a:endParaRPr>
          </a:p>
        </p:txBody>
      </p:sp>
      <p:sp>
        <p:nvSpPr>
          <p:cNvPr id="14" name="流程图: 过程 13"/>
          <p:cNvSpPr/>
          <p:nvPr/>
        </p:nvSpPr>
        <p:spPr>
          <a:xfrm>
            <a:off x="58420" y="5593080"/>
            <a:ext cx="5196840" cy="1249680"/>
          </a:xfrm>
          <a:prstGeom prst="flowChartProcess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228725" y="25400"/>
            <a:ext cx="9807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Nidhal's experimental data was inverted using the </a:t>
            </a:r>
            <a:r>
              <a:rPr lang="en-US" altLang="zh-CN">
                <a:solidFill>
                  <a:srgbClr val="0000FF"/>
                </a:solidFill>
              </a:rPr>
              <a:t>BRD algorithm</a:t>
            </a:r>
            <a:r>
              <a:rPr lang="en-US" altLang="zh-CN"/>
              <a:t> via the </a:t>
            </a:r>
            <a:r>
              <a:rPr lang="en-US" altLang="zh-CN">
                <a:solidFill>
                  <a:srgbClr val="0000FF"/>
                </a:solidFill>
              </a:rPr>
              <a:t>laboratory software</a:t>
            </a:r>
            <a:endParaRPr lang="en-US" altLang="zh-CN">
              <a:solidFill>
                <a:srgbClr val="0000FF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28725" y="5288280"/>
            <a:ext cx="9807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Nidhal's experimental data was inverted using the </a:t>
            </a:r>
            <a:r>
              <a:rPr lang="en-US" altLang="zh-CN">
                <a:solidFill>
                  <a:srgbClr val="0000FF"/>
                </a:solidFill>
              </a:rPr>
              <a:t>NNLS algorithm</a:t>
            </a:r>
            <a:r>
              <a:rPr lang="en-US" altLang="zh-CN"/>
              <a:t> via the </a:t>
            </a:r>
            <a:r>
              <a:rPr lang="en-US" altLang="zh-CN">
                <a:solidFill>
                  <a:srgbClr val="0000FF"/>
                </a:solidFill>
              </a:rPr>
              <a:t>Bin’s code</a:t>
            </a:r>
            <a:endParaRPr lang="en-US" altLang="zh-CN">
              <a:solidFill>
                <a:srgbClr val="0000FF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606280" y="5621020"/>
            <a:ext cx="254063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NUM_BINS = 200</a:t>
            </a:r>
            <a:endParaRPr lang="en-US" altLang="zh-CN"/>
          </a:p>
          <a:p>
            <a:r>
              <a:rPr lang="en-US" altLang="zh-CN"/>
              <a:t>REG_PARAM = 0.01</a:t>
            </a:r>
            <a:endParaRPr lang="en-US" altLang="zh-CN"/>
          </a:p>
          <a:p>
            <a:r>
              <a:rPr lang="en-US" altLang="zh-CN"/>
              <a:t>T2_MIN_MS = 1e-2</a:t>
            </a:r>
            <a:endParaRPr lang="en-US" altLang="zh-CN"/>
          </a:p>
          <a:p>
            <a:r>
              <a:rPr lang="en-US" altLang="zh-CN"/>
              <a:t>T2_MAX_MS = 1e5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7520" y="544830"/>
            <a:ext cx="5760000" cy="23316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20" y="2876550"/>
            <a:ext cx="5760000" cy="23316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7605" y="544830"/>
            <a:ext cx="5760000" cy="23316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7605" y="2956560"/>
            <a:ext cx="5760000" cy="2331600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2499360" y="5656580"/>
            <a:ext cx="254063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NUM_BINS = 200</a:t>
            </a:r>
            <a:endParaRPr lang="en-US" altLang="zh-CN"/>
          </a:p>
          <a:p>
            <a:r>
              <a:rPr lang="en-US" altLang="zh-CN"/>
              <a:t>REG_PARAM = 0.1</a:t>
            </a:r>
            <a:endParaRPr lang="en-US" altLang="zh-CN"/>
          </a:p>
          <a:p>
            <a:r>
              <a:rPr lang="en-US" altLang="zh-CN"/>
              <a:t>T2_MIN_MS = 1e-2</a:t>
            </a:r>
            <a:endParaRPr lang="en-US" altLang="zh-CN"/>
          </a:p>
          <a:p>
            <a:r>
              <a:rPr lang="en-US" altLang="zh-CN"/>
              <a:t>T2_MAX_MS = 1e5</a:t>
            </a:r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60960" y="5897880"/>
            <a:ext cx="27432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0000FF"/>
                </a:solidFill>
                <a:sym typeface="+mn-ea"/>
              </a:rPr>
              <a:t>BRD algorithm</a:t>
            </a:r>
            <a:r>
              <a:rPr lang="en-US" altLang="zh-CN">
                <a:sym typeface="+mn-ea"/>
              </a:rPr>
              <a:t> via the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 </a:t>
            </a:r>
            <a:r>
              <a:rPr lang="en-US" altLang="zh-CN">
                <a:solidFill>
                  <a:srgbClr val="0000FF"/>
                </a:solidFill>
                <a:sym typeface="+mn-ea"/>
              </a:rPr>
              <a:t>laboratory software</a:t>
            </a:r>
            <a:endParaRPr lang="en-US" altLang="zh-CN">
              <a:solidFill>
                <a:srgbClr val="0000FF"/>
              </a:solidFill>
              <a:sym typeface="+mn-ea"/>
            </a:endParaRPr>
          </a:p>
        </p:txBody>
      </p:sp>
      <p:sp>
        <p:nvSpPr>
          <p:cNvPr id="16" name="流程图: 过程 15"/>
          <p:cNvSpPr/>
          <p:nvPr/>
        </p:nvSpPr>
        <p:spPr>
          <a:xfrm>
            <a:off x="58420" y="5593080"/>
            <a:ext cx="5196840" cy="1249680"/>
          </a:xfrm>
          <a:prstGeom prst="flowChartProcess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228725" y="25400"/>
            <a:ext cx="9807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Nidhal's experimental data was inverted using the </a:t>
            </a:r>
            <a:r>
              <a:rPr lang="en-US" altLang="zh-CN">
                <a:solidFill>
                  <a:srgbClr val="0000FF"/>
                </a:solidFill>
              </a:rPr>
              <a:t>BRD algorithm</a:t>
            </a:r>
            <a:r>
              <a:rPr lang="en-US" altLang="zh-CN"/>
              <a:t> via the </a:t>
            </a:r>
            <a:r>
              <a:rPr lang="en-US" altLang="zh-CN">
                <a:solidFill>
                  <a:srgbClr val="0000FF"/>
                </a:solidFill>
              </a:rPr>
              <a:t>laboratory software</a:t>
            </a:r>
            <a:endParaRPr lang="en-US" altLang="zh-CN">
              <a:solidFill>
                <a:srgbClr val="0000FF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28725" y="5288280"/>
            <a:ext cx="9807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Nidhal's experimental data was inverted using the </a:t>
            </a:r>
            <a:r>
              <a:rPr lang="en-US" altLang="zh-CN">
                <a:solidFill>
                  <a:srgbClr val="0000FF"/>
                </a:solidFill>
              </a:rPr>
              <a:t>NNLS algorithm</a:t>
            </a:r>
            <a:r>
              <a:rPr lang="en-US" altLang="zh-CN"/>
              <a:t> via the </a:t>
            </a:r>
            <a:r>
              <a:rPr lang="en-US" altLang="zh-CN">
                <a:solidFill>
                  <a:srgbClr val="0000FF"/>
                </a:solidFill>
              </a:rPr>
              <a:t>Bin’s code</a:t>
            </a:r>
            <a:endParaRPr lang="en-US" altLang="zh-CN">
              <a:solidFill>
                <a:srgbClr val="0000FF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606280" y="5621020"/>
            <a:ext cx="254063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NUM_BINS = 200</a:t>
            </a:r>
            <a:endParaRPr lang="en-US" altLang="zh-CN"/>
          </a:p>
          <a:p>
            <a:r>
              <a:rPr lang="en-US" altLang="zh-CN"/>
              <a:t>REG_PARAM = 1</a:t>
            </a:r>
            <a:endParaRPr lang="en-US" altLang="zh-CN"/>
          </a:p>
          <a:p>
            <a:r>
              <a:rPr lang="en-US" altLang="zh-CN"/>
              <a:t>T2_MIN_MS = 1e-2</a:t>
            </a:r>
            <a:endParaRPr lang="en-US" altLang="zh-CN"/>
          </a:p>
          <a:p>
            <a:r>
              <a:rPr lang="en-US" altLang="zh-CN"/>
              <a:t>T2_MAX_MS = 1e5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2280" y="483870"/>
            <a:ext cx="5760000" cy="23316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2280" y="2815590"/>
            <a:ext cx="5760000" cy="23316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499360" y="5656580"/>
            <a:ext cx="254063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NUM_BINS = 200</a:t>
            </a:r>
            <a:endParaRPr lang="en-US" altLang="zh-CN"/>
          </a:p>
          <a:p>
            <a:r>
              <a:rPr lang="en-US" altLang="zh-CN"/>
              <a:t>REG_PARAM = 0.1</a:t>
            </a:r>
            <a:endParaRPr lang="en-US" altLang="zh-CN"/>
          </a:p>
          <a:p>
            <a:r>
              <a:rPr lang="en-US" altLang="zh-CN"/>
              <a:t>T2_MIN_MS = 1e-2</a:t>
            </a:r>
            <a:endParaRPr lang="en-US" altLang="zh-CN"/>
          </a:p>
          <a:p>
            <a:r>
              <a:rPr lang="en-US" altLang="zh-CN"/>
              <a:t>T2_MAX_MS = 1e5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0960" y="5897880"/>
            <a:ext cx="27432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0000FF"/>
                </a:solidFill>
                <a:sym typeface="+mn-ea"/>
              </a:rPr>
              <a:t>BRD algorithm</a:t>
            </a:r>
            <a:r>
              <a:rPr lang="en-US" altLang="zh-CN">
                <a:sym typeface="+mn-ea"/>
              </a:rPr>
              <a:t> via the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 </a:t>
            </a:r>
            <a:r>
              <a:rPr lang="en-US" altLang="zh-CN">
                <a:solidFill>
                  <a:srgbClr val="0000FF"/>
                </a:solidFill>
                <a:sym typeface="+mn-ea"/>
              </a:rPr>
              <a:t>laboratory software</a:t>
            </a:r>
            <a:endParaRPr lang="en-US" altLang="zh-CN">
              <a:solidFill>
                <a:srgbClr val="0000FF"/>
              </a:solidFill>
              <a:sym typeface="+mn-ea"/>
            </a:endParaRPr>
          </a:p>
        </p:txBody>
      </p:sp>
      <p:sp>
        <p:nvSpPr>
          <p:cNvPr id="14" name="流程图: 过程 13"/>
          <p:cNvSpPr/>
          <p:nvPr/>
        </p:nvSpPr>
        <p:spPr>
          <a:xfrm>
            <a:off x="58420" y="5593080"/>
            <a:ext cx="5196840" cy="1249680"/>
          </a:xfrm>
          <a:prstGeom prst="flowChartProcess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0341" y="584200"/>
            <a:ext cx="5760000" cy="23316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995" y="584200"/>
            <a:ext cx="5760000" cy="23316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228725" y="25400"/>
            <a:ext cx="9807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Nidhal's experimental data was inverted using the </a:t>
            </a:r>
            <a:r>
              <a:rPr lang="en-US" altLang="zh-CN">
                <a:solidFill>
                  <a:srgbClr val="0000FF"/>
                </a:solidFill>
              </a:rPr>
              <a:t>BRD algorithm</a:t>
            </a:r>
            <a:r>
              <a:rPr lang="en-US" altLang="zh-CN"/>
              <a:t> via the </a:t>
            </a:r>
            <a:r>
              <a:rPr lang="en-US" altLang="zh-CN">
                <a:solidFill>
                  <a:srgbClr val="0000FF"/>
                </a:solidFill>
              </a:rPr>
              <a:t>laboratory software</a:t>
            </a:r>
            <a:endParaRPr lang="en-US" altLang="zh-CN">
              <a:solidFill>
                <a:srgbClr val="0000FF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28725" y="5288280"/>
            <a:ext cx="9807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Nidhal's experimental data was inverted using the </a:t>
            </a:r>
            <a:r>
              <a:rPr lang="en-US" altLang="zh-CN">
                <a:solidFill>
                  <a:srgbClr val="0000FF"/>
                </a:solidFill>
              </a:rPr>
              <a:t>NNLS algorithm</a:t>
            </a:r>
            <a:r>
              <a:rPr lang="en-US" altLang="zh-CN"/>
              <a:t> via the </a:t>
            </a:r>
            <a:r>
              <a:rPr lang="en-US" altLang="zh-CN">
                <a:solidFill>
                  <a:srgbClr val="0000FF"/>
                </a:solidFill>
              </a:rPr>
              <a:t>Chi’s code</a:t>
            </a:r>
            <a:endParaRPr lang="en-US" altLang="zh-CN">
              <a:solidFill>
                <a:srgbClr val="0000FF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606280" y="5621020"/>
            <a:ext cx="254063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NUM_BINS = 200</a:t>
            </a:r>
            <a:endParaRPr lang="en-US" altLang="zh-CN"/>
          </a:p>
          <a:p>
            <a:r>
              <a:rPr lang="en-US" altLang="zh-CN"/>
              <a:t>REG_PARAM = </a:t>
            </a:r>
            <a:r>
              <a:rPr lang="en-US" altLang="zh-CN">
                <a:solidFill>
                  <a:srgbClr val="0000FF"/>
                </a:solidFill>
              </a:rPr>
              <a:t>1</a:t>
            </a:r>
            <a:endParaRPr lang="en-US" altLang="zh-CN"/>
          </a:p>
          <a:p>
            <a:r>
              <a:rPr lang="en-US" altLang="zh-CN"/>
              <a:t>T2_MIN_MS = 1e-2</a:t>
            </a:r>
            <a:endParaRPr lang="en-US" altLang="zh-CN"/>
          </a:p>
          <a:p>
            <a:r>
              <a:rPr lang="en-US" altLang="zh-CN"/>
              <a:t>T2_MAX_MS = 1e5</a:t>
            </a:r>
            <a:endParaRPr lang="zh-CN" altLang="en-US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341" y="3039110"/>
            <a:ext cx="5760000" cy="2331600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995" y="2956560"/>
            <a:ext cx="5760000" cy="23316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499360" y="5656580"/>
            <a:ext cx="254063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NUM_BINS = 200</a:t>
            </a:r>
            <a:endParaRPr lang="en-US" altLang="zh-CN"/>
          </a:p>
          <a:p>
            <a:r>
              <a:rPr lang="en-US" altLang="zh-CN"/>
              <a:t>REG_PARAM = 0.1</a:t>
            </a:r>
            <a:endParaRPr lang="en-US" altLang="zh-CN"/>
          </a:p>
          <a:p>
            <a:r>
              <a:rPr lang="en-US" altLang="zh-CN"/>
              <a:t>T2_MIN_MS = 1e-2</a:t>
            </a:r>
            <a:endParaRPr lang="en-US" altLang="zh-CN"/>
          </a:p>
          <a:p>
            <a:r>
              <a:rPr lang="en-US" altLang="zh-CN"/>
              <a:t>T2_MAX_MS = 1e5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0960" y="5897880"/>
            <a:ext cx="27432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0000FF"/>
                </a:solidFill>
                <a:sym typeface="+mn-ea"/>
              </a:rPr>
              <a:t>BRD algorithm</a:t>
            </a:r>
            <a:r>
              <a:rPr lang="en-US" altLang="zh-CN">
                <a:sym typeface="+mn-ea"/>
              </a:rPr>
              <a:t> via the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 </a:t>
            </a:r>
            <a:r>
              <a:rPr lang="en-US" altLang="zh-CN">
                <a:solidFill>
                  <a:srgbClr val="0000FF"/>
                </a:solidFill>
                <a:sym typeface="+mn-ea"/>
              </a:rPr>
              <a:t>laboratory software</a:t>
            </a:r>
            <a:endParaRPr lang="en-US" altLang="zh-CN">
              <a:solidFill>
                <a:srgbClr val="0000FF"/>
              </a:solidFill>
              <a:sym typeface="+mn-ea"/>
            </a:endParaRPr>
          </a:p>
        </p:txBody>
      </p:sp>
      <p:sp>
        <p:nvSpPr>
          <p:cNvPr id="14" name="流程图: 过程 13"/>
          <p:cNvSpPr/>
          <p:nvPr/>
        </p:nvSpPr>
        <p:spPr>
          <a:xfrm>
            <a:off x="58420" y="5593080"/>
            <a:ext cx="5196840" cy="1249680"/>
          </a:xfrm>
          <a:prstGeom prst="flowChartProcess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228725" y="25400"/>
            <a:ext cx="9807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Nidhal's experimental data was inverted using the </a:t>
            </a:r>
            <a:r>
              <a:rPr lang="en-US" altLang="zh-CN">
                <a:solidFill>
                  <a:srgbClr val="0000FF"/>
                </a:solidFill>
              </a:rPr>
              <a:t>BRD algorithm</a:t>
            </a:r>
            <a:r>
              <a:rPr lang="en-US" altLang="zh-CN"/>
              <a:t> via the </a:t>
            </a:r>
            <a:r>
              <a:rPr lang="en-US" altLang="zh-CN">
                <a:solidFill>
                  <a:srgbClr val="0000FF"/>
                </a:solidFill>
              </a:rPr>
              <a:t>laboratory software</a:t>
            </a:r>
            <a:endParaRPr lang="en-US" altLang="zh-CN">
              <a:solidFill>
                <a:srgbClr val="0000FF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5920" y="544830"/>
            <a:ext cx="5760000" cy="23316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760" y="544830"/>
            <a:ext cx="5760000" cy="233160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1228725" y="5288280"/>
            <a:ext cx="9807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Nidhal's experimental data was inverted using the </a:t>
            </a:r>
            <a:r>
              <a:rPr lang="en-US" altLang="zh-CN">
                <a:solidFill>
                  <a:srgbClr val="0000FF"/>
                </a:solidFill>
              </a:rPr>
              <a:t>NNLS algorithm</a:t>
            </a:r>
            <a:r>
              <a:rPr lang="en-US" altLang="zh-CN"/>
              <a:t> via the </a:t>
            </a:r>
            <a:r>
              <a:rPr lang="en-US" altLang="zh-CN">
                <a:solidFill>
                  <a:srgbClr val="0000FF"/>
                </a:solidFill>
              </a:rPr>
              <a:t>Chi’s code</a:t>
            </a:r>
            <a:endParaRPr lang="en-US" altLang="zh-CN">
              <a:solidFill>
                <a:srgbClr val="0000FF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9606280" y="5621020"/>
            <a:ext cx="254063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NUM_BINS = 200</a:t>
            </a:r>
            <a:endParaRPr lang="en-US" altLang="zh-CN"/>
          </a:p>
          <a:p>
            <a:r>
              <a:rPr lang="en-US" altLang="zh-CN"/>
              <a:t>REG_PARAM = </a:t>
            </a:r>
            <a:r>
              <a:rPr lang="en-US" altLang="zh-CN">
                <a:solidFill>
                  <a:srgbClr val="0000FF"/>
                </a:solidFill>
              </a:rPr>
              <a:t>1</a:t>
            </a:r>
            <a:endParaRPr lang="en-US" altLang="zh-CN"/>
          </a:p>
          <a:p>
            <a:r>
              <a:rPr lang="en-US" altLang="zh-CN"/>
              <a:t>T2_MIN_MS = 1e-2</a:t>
            </a:r>
            <a:endParaRPr lang="en-US" altLang="zh-CN"/>
          </a:p>
          <a:p>
            <a:r>
              <a:rPr lang="en-US" altLang="zh-CN"/>
              <a:t>T2_MAX_MS = 1e5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920" y="3027680"/>
            <a:ext cx="5760000" cy="23316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760" y="2956560"/>
            <a:ext cx="5760000" cy="23316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2499360" y="5656580"/>
            <a:ext cx="254063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NUM_BINS = 200</a:t>
            </a:r>
            <a:endParaRPr lang="en-US" altLang="zh-CN"/>
          </a:p>
          <a:p>
            <a:r>
              <a:rPr lang="en-US" altLang="zh-CN"/>
              <a:t>REG_PARAM = 0.1</a:t>
            </a:r>
            <a:endParaRPr lang="en-US" altLang="zh-CN"/>
          </a:p>
          <a:p>
            <a:r>
              <a:rPr lang="en-US" altLang="zh-CN"/>
              <a:t>T2_MIN_MS = 1e-2</a:t>
            </a:r>
            <a:endParaRPr lang="en-US" altLang="zh-CN"/>
          </a:p>
          <a:p>
            <a:r>
              <a:rPr lang="en-US" altLang="zh-CN"/>
              <a:t>T2_MAX_MS = 1e5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0960" y="5897880"/>
            <a:ext cx="27432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0000FF"/>
                </a:solidFill>
                <a:sym typeface="+mn-ea"/>
              </a:rPr>
              <a:t>BRD algorithm</a:t>
            </a:r>
            <a:r>
              <a:rPr lang="en-US" altLang="zh-CN">
                <a:sym typeface="+mn-ea"/>
              </a:rPr>
              <a:t> via the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 </a:t>
            </a:r>
            <a:r>
              <a:rPr lang="en-US" altLang="zh-CN">
                <a:solidFill>
                  <a:srgbClr val="0000FF"/>
                </a:solidFill>
                <a:sym typeface="+mn-ea"/>
              </a:rPr>
              <a:t>laboratory software</a:t>
            </a:r>
            <a:endParaRPr lang="en-US" altLang="zh-CN">
              <a:solidFill>
                <a:srgbClr val="0000FF"/>
              </a:solidFill>
              <a:sym typeface="+mn-ea"/>
            </a:endParaRPr>
          </a:p>
        </p:txBody>
      </p:sp>
      <p:sp>
        <p:nvSpPr>
          <p:cNvPr id="15" name="流程图: 过程 14"/>
          <p:cNvSpPr/>
          <p:nvPr/>
        </p:nvSpPr>
        <p:spPr>
          <a:xfrm>
            <a:off x="58420" y="5593080"/>
            <a:ext cx="5196840" cy="1249680"/>
          </a:xfrm>
          <a:prstGeom prst="flowChartProcess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228725" y="25400"/>
            <a:ext cx="9807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Nidhal's experimental data was inverted using the </a:t>
            </a:r>
            <a:r>
              <a:rPr lang="en-US" altLang="zh-CN">
                <a:solidFill>
                  <a:srgbClr val="0000FF"/>
                </a:solidFill>
              </a:rPr>
              <a:t>BRD algorithm</a:t>
            </a:r>
            <a:r>
              <a:rPr lang="en-US" altLang="zh-CN"/>
              <a:t> via the </a:t>
            </a:r>
            <a:r>
              <a:rPr lang="en-US" altLang="zh-CN">
                <a:solidFill>
                  <a:srgbClr val="0000FF"/>
                </a:solidFill>
              </a:rPr>
              <a:t>laboratory software</a:t>
            </a:r>
            <a:endParaRPr lang="en-US" altLang="zh-CN">
              <a:solidFill>
                <a:srgbClr val="0000FF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483870"/>
            <a:ext cx="5760000" cy="23316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228725" y="5288280"/>
            <a:ext cx="9807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Nidhal's experimental data was inverted using the </a:t>
            </a:r>
            <a:r>
              <a:rPr lang="en-US" altLang="zh-CN">
                <a:solidFill>
                  <a:srgbClr val="0000FF"/>
                </a:solidFill>
              </a:rPr>
              <a:t>NNLS algorithm</a:t>
            </a:r>
            <a:r>
              <a:rPr lang="en-US" altLang="zh-CN"/>
              <a:t> via the </a:t>
            </a:r>
            <a:r>
              <a:rPr lang="en-US" altLang="zh-CN">
                <a:solidFill>
                  <a:srgbClr val="0000FF"/>
                </a:solidFill>
              </a:rPr>
              <a:t>Chi’s code</a:t>
            </a:r>
            <a:endParaRPr lang="en-US" altLang="zh-CN">
              <a:solidFill>
                <a:srgbClr val="0000FF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606280" y="5621020"/>
            <a:ext cx="254063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NUM_BINS = 200</a:t>
            </a:r>
            <a:endParaRPr lang="en-US" altLang="zh-CN"/>
          </a:p>
          <a:p>
            <a:r>
              <a:rPr lang="en-US" altLang="zh-CN"/>
              <a:t>REG_PARAM = </a:t>
            </a:r>
            <a:r>
              <a:rPr lang="en-US" altLang="zh-CN">
                <a:solidFill>
                  <a:srgbClr val="0000FF"/>
                </a:solidFill>
              </a:rPr>
              <a:t>1</a:t>
            </a:r>
            <a:endParaRPr lang="en-US" altLang="zh-CN"/>
          </a:p>
          <a:p>
            <a:r>
              <a:rPr lang="en-US" altLang="zh-CN"/>
              <a:t>T2_MIN_MS = 1e-2</a:t>
            </a:r>
            <a:endParaRPr lang="en-US" altLang="zh-CN"/>
          </a:p>
          <a:p>
            <a:r>
              <a:rPr lang="en-US" altLang="zh-CN"/>
              <a:t>T2_MAX_MS = 1e5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2815590"/>
            <a:ext cx="5760000" cy="23316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499360" y="5656580"/>
            <a:ext cx="254063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NUM_BINS = 200</a:t>
            </a:r>
            <a:endParaRPr lang="en-US" altLang="zh-CN"/>
          </a:p>
          <a:p>
            <a:r>
              <a:rPr lang="en-US" altLang="zh-CN"/>
              <a:t>REG_PARAM = 0.1</a:t>
            </a:r>
            <a:endParaRPr lang="en-US" altLang="zh-CN"/>
          </a:p>
          <a:p>
            <a:r>
              <a:rPr lang="en-US" altLang="zh-CN"/>
              <a:t>T2_MIN_MS = 1e-2</a:t>
            </a:r>
            <a:endParaRPr lang="en-US" altLang="zh-CN"/>
          </a:p>
          <a:p>
            <a:r>
              <a:rPr lang="en-US" altLang="zh-CN"/>
              <a:t>T2_MAX_MS = 1e5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0960" y="5897880"/>
            <a:ext cx="27432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0000FF"/>
                </a:solidFill>
                <a:sym typeface="+mn-ea"/>
              </a:rPr>
              <a:t>BRD algorithm</a:t>
            </a:r>
            <a:r>
              <a:rPr lang="en-US" altLang="zh-CN">
                <a:sym typeface="+mn-ea"/>
              </a:rPr>
              <a:t> via the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 </a:t>
            </a:r>
            <a:r>
              <a:rPr lang="en-US" altLang="zh-CN">
                <a:solidFill>
                  <a:srgbClr val="0000FF"/>
                </a:solidFill>
                <a:sym typeface="+mn-ea"/>
              </a:rPr>
              <a:t>laboratory software</a:t>
            </a:r>
            <a:endParaRPr lang="en-US" altLang="zh-CN">
              <a:solidFill>
                <a:srgbClr val="0000FF"/>
              </a:solidFill>
              <a:sym typeface="+mn-ea"/>
            </a:endParaRPr>
          </a:p>
        </p:txBody>
      </p:sp>
      <p:sp>
        <p:nvSpPr>
          <p:cNvPr id="14" name="流程图: 过程 13"/>
          <p:cNvSpPr/>
          <p:nvPr/>
        </p:nvSpPr>
        <p:spPr>
          <a:xfrm>
            <a:off x="58420" y="5593080"/>
            <a:ext cx="5196840" cy="1249680"/>
          </a:xfrm>
          <a:prstGeom prst="flowChartProcess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1210" y="584200"/>
            <a:ext cx="5760000" cy="233164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3638" y="584200"/>
            <a:ext cx="5760000" cy="23316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228725" y="25400"/>
            <a:ext cx="9807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Nidhal's experimental data was inverted using the </a:t>
            </a:r>
            <a:r>
              <a:rPr lang="en-US" altLang="zh-CN">
                <a:solidFill>
                  <a:srgbClr val="0000FF"/>
                </a:solidFill>
              </a:rPr>
              <a:t>BRD algorithm</a:t>
            </a:r>
            <a:r>
              <a:rPr lang="en-US" altLang="zh-CN"/>
              <a:t> via the </a:t>
            </a:r>
            <a:r>
              <a:rPr lang="en-US" altLang="zh-CN">
                <a:solidFill>
                  <a:srgbClr val="0000FF"/>
                </a:solidFill>
              </a:rPr>
              <a:t>laboratory software</a:t>
            </a:r>
            <a:endParaRPr lang="en-US" altLang="zh-CN">
              <a:solidFill>
                <a:srgbClr val="0000FF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228725" y="5288280"/>
            <a:ext cx="9807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Nidhal's experimental data was inverted using the </a:t>
            </a:r>
            <a:r>
              <a:rPr lang="en-US" altLang="zh-CN">
                <a:solidFill>
                  <a:srgbClr val="0000FF"/>
                </a:solidFill>
              </a:rPr>
              <a:t>BRD algorithm</a:t>
            </a:r>
            <a:r>
              <a:rPr lang="en-US" altLang="zh-CN"/>
              <a:t> via the </a:t>
            </a:r>
            <a:r>
              <a:rPr lang="en-US" altLang="zh-CN">
                <a:solidFill>
                  <a:srgbClr val="0000FF"/>
                </a:solidFill>
              </a:rPr>
              <a:t>Junwen’s code</a:t>
            </a:r>
            <a:endParaRPr lang="en-US" altLang="zh-CN">
              <a:solidFill>
                <a:srgbClr val="0000FF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606280" y="5621020"/>
            <a:ext cx="254063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NUM_BINS = 200</a:t>
            </a:r>
            <a:endParaRPr lang="en-US" altLang="zh-CN"/>
          </a:p>
          <a:p>
            <a:r>
              <a:rPr lang="en-US" altLang="zh-CN"/>
              <a:t>REG_PARAM = </a:t>
            </a:r>
            <a:r>
              <a:rPr lang="en-US" altLang="zh-CN">
                <a:solidFill>
                  <a:srgbClr val="0000FF"/>
                </a:solidFill>
              </a:rPr>
              <a:t>0.1</a:t>
            </a:r>
            <a:endParaRPr lang="en-US" altLang="zh-CN"/>
          </a:p>
          <a:p>
            <a:r>
              <a:rPr lang="en-US" altLang="zh-CN"/>
              <a:t>T2_MIN_MS = 1e-2</a:t>
            </a:r>
            <a:endParaRPr lang="en-US" altLang="zh-CN"/>
          </a:p>
          <a:p>
            <a:r>
              <a:rPr lang="en-US" altLang="zh-CN"/>
              <a:t>T2_MAX_MS = 1e5</a:t>
            </a:r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2499360" y="5656580"/>
            <a:ext cx="254063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NUM_BINS = 200</a:t>
            </a:r>
            <a:endParaRPr lang="en-US" altLang="zh-CN"/>
          </a:p>
          <a:p>
            <a:r>
              <a:rPr lang="en-US" altLang="zh-CN"/>
              <a:t>REG_PARAM = 0.1</a:t>
            </a:r>
            <a:endParaRPr lang="en-US" altLang="zh-CN"/>
          </a:p>
          <a:p>
            <a:r>
              <a:rPr lang="en-US" altLang="zh-CN"/>
              <a:t>T2_MIN_MS = 1e-2</a:t>
            </a:r>
            <a:endParaRPr lang="en-US" altLang="zh-CN"/>
          </a:p>
          <a:p>
            <a:r>
              <a:rPr lang="en-US" altLang="zh-CN"/>
              <a:t>T2_MAX_MS = 1e5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0960" y="5897880"/>
            <a:ext cx="27432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0000FF"/>
                </a:solidFill>
                <a:sym typeface="+mn-ea"/>
              </a:rPr>
              <a:t>BRD algorithm</a:t>
            </a:r>
            <a:r>
              <a:rPr lang="en-US" altLang="zh-CN">
                <a:sym typeface="+mn-ea"/>
              </a:rPr>
              <a:t> via the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 </a:t>
            </a:r>
            <a:r>
              <a:rPr lang="en-US" altLang="zh-CN">
                <a:solidFill>
                  <a:srgbClr val="0000FF"/>
                </a:solidFill>
                <a:sym typeface="+mn-ea"/>
              </a:rPr>
              <a:t>laboratory software</a:t>
            </a:r>
            <a:endParaRPr lang="en-US" altLang="zh-CN">
              <a:solidFill>
                <a:srgbClr val="0000FF"/>
              </a:solidFill>
              <a:sym typeface="+mn-ea"/>
            </a:endParaRPr>
          </a:p>
        </p:txBody>
      </p:sp>
      <p:sp>
        <p:nvSpPr>
          <p:cNvPr id="14" name="流程图: 过程 13"/>
          <p:cNvSpPr/>
          <p:nvPr/>
        </p:nvSpPr>
        <p:spPr>
          <a:xfrm>
            <a:off x="58420" y="5593080"/>
            <a:ext cx="5196840" cy="1249680"/>
          </a:xfrm>
          <a:prstGeom prst="flowChartProcess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211" y="2864485"/>
            <a:ext cx="5760000" cy="23316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638" y="2864485"/>
            <a:ext cx="5760000" cy="23316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228725" y="25400"/>
            <a:ext cx="9807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Nidhal's experimental data was inverted using the </a:t>
            </a:r>
            <a:r>
              <a:rPr lang="en-US" altLang="zh-CN">
                <a:solidFill>
                  <a:srgbClr val="0000FF"/>
                </a:solidFill>
              </a:rPr>
              <a:t>BRD algorithm</a:t>
            </a:r>
            <a:r>
              <a:rPr lang="en-US" altLang="zh-CN"/>
              <a:t> via the </a:t>
            </a:r>
            <a:r>
              <a:rPr lang="en-US" altLang="zh-CN">
                <a:solidFill>
                  <a:srgbClr val="0000FF"/>
                </a:solidFill>
              </a:rPr>
              <a:t>laboratory software</a:t>
            </a:r>
            <a:endParaRPr lang="en-US" altLang="zh-CN">
              <a:solidFill>
                <a:srgbClr val="0000FF"/>
              </a:solidFill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4640" y="544830"/>
            <a:ext cx="5760000" cy="233160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0795" y="544830"/>
            <a:ext cx="5760000" cy="23316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2499360" y="5656580"/>
            <a:ext cx="254063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NUM_BINS = 200</a:t>
            </a:r>
            <a:endParaRPr lang="en-US" altLang="zh-CN"/>
          </a:p>
          <a:p>
            <a:r>
              <a:rPr lang="en-US" altLang="zh-CN"/>
              <a:t>REG_PARAM = 0.1</a:t>
            </a:r>
            <a:endParaRPr lang="en-US" altLang="zh-CN"/>
          </a:p>
          <a:p>
            <a:r>
              <a:rPr lang="en-US" altLang="zh-CN"/>
              <a:t>T2_MIN_MS = 1e-2</a:t>
            </a:r>
            <a:endParaRPr lang="en-US" altLang="zh-CN"/>
          </a:p>
          <a:p>
            <a:r>
              <a:rPr lang="en-US" altLang="zh-CN"/>
              <a:t>T2_MAX_MS = 1e5</a:t>
            </a:r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60960" y="5897880"/>
            <a:ext cx="27432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0000FF"/>
                </a:solidFill>
                <a:sym typeface="+mn-ea"/>
              </a:rPr>
              <a:t>BRD algorithm</a:t>
            </a:r>
            <a:r>
              <a:rPr lang="en-US" altLang="zh-CN">
                <a:sym typeface="+mn-ea"/>
              </a:rPr>
              <a:t> via the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 </a:t>
            </a:r>
            <a:r>
              <a:rPr lang="en-US" altLang="zh-CN">
                <a:solidFill>
                  <a:srgbClr val="0000FF"/>
                </a:solidFill>
                <a:sym typeface="+mn-ea"/>
              </a:rPr>
              <a:t>laboratory software</a:t>
            </a:r>
            <a:endParaRPr lang="en-US" altLang="zh-CN">
              <a:solidFill>
                <a:srgbClr val="0000FF"/>
              </a:solidFill>
              <a:sym typeface="+mn-ea"/>
            </a:endParaRPr>
          </a:p>
        </p:txBody>
      </p:sp>
      <p:sp>
        <p:nvSpPr>
          <p:cNvPr id="15" name="流程图: 过程 14"/>
          <p:cNvSpPr/>
          <p:nvPr/>
        </p:nvSpPr>
        <p:spPr>
          <a:xfrm>
            <a:off x="58420" y="5593080"/>
            <a:ext cx="5196840" cy="1249680"/>
          </a:xfrm>
          <a:prstGeom prst="flowChartProcess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228725" y="5288280"/>
            <a:ext cx="9807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Nidhal's experimental data was inverted using the </a:t>
            </a:r>
            <a:r>
              <a:rPr lang="en-US" altLang="zh-CN">
                <a:solidFill>
                  <a:srgbClr val="0000FF"/>
                </a:solidFill>
              </a:rPr>
              <a:t>BRD algorithm</a:t>
            </a:r>
            <a:r>
              <a:rPr lang="en-US" altLang="zh-CN"/>
              <a:t> via the </a:t>
            </a:r>
            <a:r>
              <a:rPr lang="en-US" altLang="zh-CN">
                <a:solidFill>
                  <a:srgbClr val="0000FF"/>
                </a:solidFill>
              </a:rPr>
              <a:t>Junwen’s code</a:t>
            </a:r>
            <a:endParaRPr lang="en-US" altLang="zh-CN">
              <a:solidFill>
                <a:srgbClr val="0000FF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606280" y="5621020"/>
            <a:ext cx="254063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NUM_BINS = 200</a:t>
            </a:r>
            <a:endParaRPr lang="en-US" altLang="zh-CN"/>
          </a:p>
          <a:p>
            <a:r>
              <a:rPr lang="en-US" altLang="zh-CN"/>
              <a:t>REG_PARAM = </a:t>
            </a:r>
            <a:r>
              <a:rPr lang="en-US" altLang="zh-CN">
                <a:solidFill>
                  <a:srgbClr val="0000FF"/>
                </a:solidFill>
              </a:rPr>
              <a:t>0.1</a:t>
            </a:r>
            <a:endParaRPr lang="en-US" altLang="zh-CN"/>
          </a:p>
          <a:p>
            <a:r>
              <a:rPr lang="en-US" altLang="zh-CN"/>
              <a:t>T2_MIN_MS = 1e-2</a:t>
            </a:r>
            <a:endParaRPr lang="en-US" altLang="zh-CN"/>
          </a:p>
          <a:p>
            <a:r>
              <a:rPr lang="en-US" altLang="zh-CN"/>
              <a:t>T2_MAX_MS = 1e5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4640" y="2757805"/>
            <a:ext cx="5760000" cy="23316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0795" y="2757805"/>
            <a:ext cx="5760000" cy="23316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/>
          <p:cNvSpPr txBox="1"/>
          <p:nvPr/>
        </p:nvSpPr>
        <p:spPr>
          <a:xfrm>
            <a:off x="1228725" y="25400"/>
            <a:ext cx="9807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Nidhal's experimental data was inverted using the </a:t>
            </a:r>
            <a:r>
              <a:rPr lang="en-US" altLang="zh-CN">
                <a:solidFill>
                  <a:srgbClr val="0000FF"/>
                </a:solidFill>
              </a:rPr>
              <a:t>BRD algorithm</a:t>
            </a:r>
            <a:r>
              <a:rPr lang="en-US" altLang="zh-CN"/>
              <a:t> via the </a:t>
            </a:r>
            <a:r>
              <a:rPr lang="en-US" altLang="zh-CN">
                <a:solidFill>
                  <a:srgbClr val="0000FF"/>
                </a:solidFill>
              </a:rPr>
              <a:t>laboratory software</a:t>
            </a:r>
            <a:endParaRPr lang="en-US" altLang="zh-CN">
              <a:solidFill>
                <a:srgbClr val="0000FF"/>
              </a:solidFill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24860" y="483870"/>
            <a:ext cx="5760000" cy="233160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499360" y="5656580"/>
            <a:ext cx="254063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NUM_BINS = 200</a:t>
            </a:r>
            <a:endParaRPr lang="en-US" altLang="zh-CN"/>
          </a:p>
          <a:p>
            <a:r>
              <a:rPr lang="en-US" altLang="zh-CN"/>
              <a:t>REG_PARAM = 0.1</a:t>
            </a:r>
            <a:endParaRPr lang="en-US" altLang="zh-CN"/>
          </a:p>
          <a:p>
            <a:r>
              <a:rPr lang="en-US" altLang="zh-CN"/>
              <a:t>T2_MIN_MS = 1e-2</a:t>
            </a:r>
            <a:endParaRPr lang="en-US" altLang="zh-CN"/>
          </a:p>
          <a:p>
            <a:r>
              <a:rPr lang="en-US" altLang="zh-CN"/>
              <a:t>T2_MAX_MS = 1e5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60960" y="5897880"/>
            <a:ext cx="2743200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olidFill>
                  <a:srgbClr val="0000FF"/>
                </a:solidFill>
                <a:sym typeface="+mn-ea"/>
              </a:rPr>
              <a:t>BRD algorithm</a:t>
            </a:r>
            <a:r>
              <a:rPr lang="en-US" altLang="zh-CN">
                <a:sym typeface="+mn-ea"/>
              </a:rPr>
              <a:t> via the</a:t>
            </a:r>
            <a:endParaRPr lang="en-US" altLang="zh-CN">
              <a:sym typeface="+mn-ea"/>
            </a:endParaRPr>
          </a:p>
          <a:p>
            <a:r>
              <a:rPr lang="en-US" altLang="zh-CN">
                <a:sym typeface="+mn-ea"/>
              </a:rPr>
              <a:t> </a:t>
            </a:r>
            <a:r>
              <a:rPr lang="en-US" altLang="zh-CN">
                <a:solidFill>
                  <a:srgbClr val="0000FF"/>
                </a:solidFill>
                <a:sym typeface="+mn-ea"/>
              </a:rPr>
              <a:t>laboratory software</a:t>
            </a:r>
            <a:endParaRPr lang="en-US" altLang="zh-CN">
              <a:solidFill>
                <a:srgbClr val="0000FF"/>
              </a:solidFill>
              <a:sym typeface="+mn-ea"/>
            </a:endParaRPr>
          </a:p>
        </p:txBody>
      </p:sp>
      <p:sp>
        <p:nvSpPr>
          <p:cNvPr id="14" name="流程图: 过程 13"/>
          <p:cNvSpPr/>
          <p:nvPr/>
        </p:nvSpPr>
        <p:spPr>
          <a:xfrm>
            <a:off x="58420" y="5593080"/>
            <a:ext cx="5196840" cy="1249680"/>
          </a:xfrm>
          <a:prstGeom prst="flowChartProcess">
            <a:avLst/>
          </a:prstGeom>
          <a:noFill/>
          <a:ln w="28575" cmpd="sng">
            <a:solidFill>
              <a:schemeClr val="tx1"/>
            </a:solidFill>
            <a:prstDash val="solid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1228725" y="5288280"/>
            <a:ext cx="9807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Nidhal's experimental data was inverted using the </a:t>
            </a:r>
            <a:r>
              <a:rPr lang="en-US" altLang="zh-CN">
                <a:solidFill>
                  <a:srgbClr val="0000FF"/>
                </a:solidFill>
              </a:rPr>
              <a:t>BRD algorithm</a:t>
            </a:r>
            <a:r>
              <a:rPr lang="en-US" altLang="zh-CN"/>
              <a:t> via the </a:t>
            </a:r>
            <a:r>
              <a:rPr lang="en-US" altLang="zh-CN">
                <a:solidFill>
                  <a:srgbClr val="0000FF"/>
                </a:solidFill>
              </a:rPr>
              <a:t>Junwen’s code</a:t>
            </a:r>
            <a:endParaRPr lang="en-US" altLang="zh-CN">
              <a:solidFill>
                <a:srgbClr val="0000FF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9606280" y="5621020"/>
            <a:ext cx="254063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/>
              <a:t>NUM_BINS = 200</a:t>
            </a:r>
            <a:endParaRPr lang="en-US" altLang="zh-CN"/>
          </a:p>
          <a:p>
            <a:r>
              <a:rPr lang="en-US" altLang="zh-CN"/>
              <a:t>REG_PARAM = </a:t>
            </a:r>
            <a:r>
              <a:rPr lang="en-US" altLang="zh-CN">
                <a:solidFill>
                  <a:srgbClr val="0000FF"/>
                </a:solidFill>
              </a:rPr>
              <a:t>0.1</a:t>
            </a:r>
            <a:endParaRPr lang="en-US" altLang="zh-CN"/>
          </a:p>
          <a:p>
            <a:r>
              <a:rPr lang="en-US" altLang="zh-CN"/>
              <a:t>T2_MIN_MS = 1e-2</a:t>
            </a:r>
            <a:endParaRPr lang="en-US" altLang="zh-CN"/>
          </a:p>
          <a:p>
            <a:r>
              <a:rPr lang="en-US" altLang="zh-CN"/>
              <a:t>T2_MAX_MS = 1e5</a:t>
            </a:r>
            <a:endParaRPr lang="zh-CN" altLang="en-US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4860" y="2956560"/>
            <a:ext cx="5760000" cy="2331600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228725" y="0"/>
            <a:ext cx="9807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Nidhal's experimental data was inverted using the </a:t>
            </a:r>
            <a:r>
              <a:rPr lang="en-US" altLang="zh-CN">
                <a:solidFill>
                  <a:srgbClr val="0000FF"/>
                </a:solidFill>
              </a:rPr>
              <a:t>NNLS algorithm</a:t>
            </a:r>
            <a:r>
              <a:rPr lang="en-US" altLang="zh-CN"/>
              <a:t> via the </a:t>
            </a:r>
            <a:r>
              <a:rPr lang="en-US" altLang="zh-CN">
                <a:solidFill>
                  <a:srgbClr val="0000FF"/>
                </a:solidFill>
              </a:rPr>
              <a:t>Bin</a:t>
            </a:r>
            <a:r>
              <a:rPr lang="en-US" altLang="zh-CN">
                <a:solidFill>
                  <a:srgbClr val="0000FF"/>
                </a:solidFill>
              </a:rPr>
              <a:t>’s code</a:t>
            </a:r>
            <a:endParaRPr lang="en-US" altLang="zh-CN">
              <a:solidFill>
                <a:srgbClr val="0000FF"/>
              </a:solidFill>
            </a:endParaRPr>
          </a:p>
        </p:txBody>
      </p:sp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20311" y="1971040"/>
            <a:ext cx="25298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REG_PARAM = </a:t>
            </a:r>
            <a:r>
              <a:rPr lang="en-US" altLang="zh-CN">
                <a:solidFill>
                  <a:srgbClr val="0000FF"/>
                </a:solidFill>
                <a:sym typeface="+mn-ea"/>
              </a:rPr>
              <a:t>0.01</a:t>
            </a:r>
            <a:endParaRPr lang="en-US" altLang="zh-CN">
              <a:solidFill>
                <a:srgbClr val="0000FF"/>
              </a:solidFill>
              <a:sym typeface="+mn-ea"/>
            </a:endParaRPr>
          </a:p>
        </p:txBody>
      </p:sp>
      <p:pic>
        <p:nvPicPr>
          <p:cNvPr id="7" name="图片 6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106363" y="368300"/>
            <a:ext cx="3960000" cy="160297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8131633" y="368300"/>
            <a:ext cx="3959860" cy="1602975"/>
          </a:xfrm>
          <a:prstGeom prst="rect">
            <a:avLst/>
          </a:prstGeom>
        </p:spPr>
      </p:pic>
      <p:sp>
        <p:nvSpPr>
          <p:cNvPr id="10" name="文本框 9"/>
          <p:cNvSpPr txBox="1"/>
          <p:nvPr>
            <p:custDataLst>
              <p:tags r:id="rId7"/>
            </p:custDataLst>
          </p:nvPr>
        </p:nvSpPr>
        <p:spPr>
          <a:xfrm>
            <a:off x="8470900" y="1971040"/>
            <a:ext cx="34182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REG_PARAM = </a:t>
            </a:r>
            <a:r>
              <a:rPr lang="en-US" altLang="zh-CN">
                <a:solidFill>
                  <a:srgbClr val="0000FF"/>
                </a:solidFill>
                <a:sym typeface="+mn-ea"/>
              </a:rPr>
              <a:t>0.0003</a:t>
            </a:r>
            <a:endParaRPr lang="en-US" altLang="zh-CN">
              <a:solidFill>
                <a:srgbClr val="0000FF"/>
              </a:solidFill>
              <a:sym typeface="+mn-ea"/>
            </a:endParaRPr>
          </a:p>
        </p:txBody>
      </p:sp>
      <p:pic>
        <p:nvPicPr>
          <p:cNvPr id="11" name="图片 10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4119068" y="368300"/>
            <a:ext cx="3959860" cy="1602975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0"/>
            </p:custDataLst>
          </p:nvPr>
        </p:nvSpPr>
        <p:spPr>
          <a:xfrm>
            <a:off x="4964271" y="1969770"/>
            <a:ext cx="252984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REG_PARAM = </a:t>
            </a:r>
            <a:r>
              <a:rPr lang="en-US" altLang="zh-CN">
                <a:solidFill>
                  <a:srgbClr val="0000FF"/>
                </a:solidFill>
                <a:sym typeface="+mn-ea"/>
              </a:rPr>
              <a:t>0.001</a:t>
            </a:r>
            <a:endParaRPr lang="en-US" altLang="zh-CN">
              <a:solidFill>
                <a:srgbClr val="0000FF"/>
              </a:solidFill>
              <a:sym typeface="+mn-ea"/>
            </a:endParaRPr>
          </a:p>
        </p:txBody>
      </p:sp>
      <p:sp>
        <p:nvSpPr>
          <p:cNvPr id="13" name="文本框 12"/>
          <p:cNvSpPr txBox="1"/>
          <p:nvPr>
            <p:custDataLst>
              <p:tags r:id="rId11"/>
            </p:custDataLst>
          </p:nvPr>
        </p:nvSpPr>
        <p:spPr>
          <a:xfrm>
            <a:off x="1228725" y="2258695"/>
            <a:ext cx="9807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Nidhal's experimental data was inverted using the </a:t>
            </a:r>
            <a:r>
              <a:rPr lang="en-US" altLang="zh-CN">
                <a:solidFill>
                  <a:srgbClr val="0000FF"/>
                </a:solidFill>
              </a:rPr>
              <a:t>NNLS algorithm</a:t>
            </a:r>
            <a:r>
              <a:rPr lang="en-US" altLang="zh-CN"/>
              <a:t> via the </a:t>
            </a:r>
            <a:r>
              <a:rPr lang="en-US" altLang="zh-CN">
                <a:solidFill>
                  <a:srgbClr val="0000FF"/>
                </a:solidFill>
              </a:rPr>
              <a:t>Chi</a:t>
            </a:r>
            <a:r>
              <a:rPr lang="en-US" altLang="zh-CN">
                <a:solidFill>
                  <a:srgbClr val="0000FF"/>
                </a:solidFill>
              </a:rPr>
              <a:t>’s code</a:t>
            </a:r>
            <a:endParaRPr lang="en-US" altLang="zh-CN">
              <a:solidFill>
                <a:srgbClr val="0000FF"/>
              </a:solidFill>
            </a:endParaRPr>
          </a:p>
        </p:txBody>
      </p:sp>
      <p:pic>
        <p:nvPicPr>
          <p:cNvPr id="14" name="图片 13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73660" y="2627244"/>
            <a:ext cx="3960000" cy="1603111"/>
          </a:xfrm>
          <a:prstGeom prst="rect">
            <a:avLst/>
          </a:prstGeom>
        </p:spPr>
      </p:pic>
      <p:sp>
        <p:nvSpPr>
          <p:cNvPr id="15" name="文本框 14"/>
          <p:cNvSpPr txBox="1"/>
          <p:nvPr>
            <p:custDataLst>
              <p:tags r:id="rId14"/>
            </p:custDataLst>
          </p:nvPr>
        </p:nvSpPr>
        <p:spPr>
          <a:xfrm>
            <a:off x="1439069" y="4231005"/>
            <a:ext cx="20923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REG_PARAM = </a:t>
            </a:r>
            <a:r>
              <a:rPr lang="en-US" altLang="zh-CN">
                <a:solidFill>
                  <a:srgbClr val="0000FF"/>
                </a:solidFill>
                <a:sym typeface="+mn-ea"/>
              </a:rPr>
              <a:t>1</a:t>
            </a:r>
            <a:endParaRPr lang="en-US" altLang="zh-CN">
              <a:solidFill>
                <a:srgbClr val="0000FF"/>
              </a:solidFill>
              <a:sym typeface="+mn-ea"/>
            </a:endParaRPr>
          </a:p>
        </p:txBody>
      </p:sp>
      <p:pic>
        <p:nvPicPr>
          <p:cNvPr id="16" name="图片 15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/>
          <a:stretch>
            <a:fillRect/>
          </a:stretch>
        </p:blipFill>
        <p:spPr>
          <a:xfrm>
            <a:off x="8232280" y="2627313"/>
            <a:ext cx="3959860" cy="160297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/>
          <a:stretch>
            <a:fillRect/>
          </a:stretch>
        </p:blipFill>
        <p:spPr>
          <a:xfrm>
            <a:off x="4153040" y="2627313"/>
            <a:ext cx="3959860" cy="1602975"/>
          </a:xfrm>
          <a:prstGeom prst="rect">
            <a:avLst/>
          </a:prstGeom>
        </p:spPr>
      </p:pic>
      <p:sp>
        <p:nvSpPr>
          <p:cNvPr id="18" name="文本框 17"/>
          <p:cNvSpPr txBox="1"/>
          <p:nvPr>
            <p:custDataLst>
              <p:tags r:id="rId19"/>
            </p:custDataLst>
          </p:nvPr>
        </p:nvSpPr>
        <p:spPr>
          <a:xfrm>
            <a:off x="5094129" y="4231005"/>
            <a:ext cx="22701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REG_PARAM = </a:t>
            </a:r>
            <a:r>
              <a:rPr lang="en-US" altLang="zh-CN">
                <a:solidFill>
                  <a:srgbClr val="0000FF"/>
                </a:solidFill>
                <a:sym typeface="+mn-ea"/>
              </a:rPr>
              <a:t>0.1</a:t>
            </a:r>
            <a:endParaRPr lang="en-US" altLang="zh-CN">
              <a:solidFill>
                <a:srgbClr val="0000FF"/>
              </a:solidFill>
              <a:sym typeface="+mn-ea"/>
            </a:endParaRPr>
          </a:p>
        </p:txBody>
      </p:sp>
      <p:sp>
        <p:nvSpPr>
          <p:cNvPr id="19" name="文本框 18"/>
          <p:cNvSpPr txBox="1"/>
          <p:nvPr>
            <p:custDataLst>
              <p:tags r:id="rId20"/>
            </p:custDataLst>
          </p:nvPr>
        </p:nvSpPr>
        <p:spPr>
          <a:xfrm>
            <a:off x="8470900" y="4231005"/>
            <a:ext cx="34182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REG_PARAM = </a:t>
            </a:r>
            <a:r>
              <a:rPr lang="en-US" altLang="zh-CN">
                <a:solidFill>
                  <a:srgbClr val="0000FF"/>
                </a:solidFill>
                <a:sym typeface="+mn-ea"/>
              </a:rPr>
              <a:t>0.01</a:t>
            </a:r>
            <a:endParaRPr lang="en-US" altLang="zh-CN">
              <a:solidFill>
                <a:srgbClr val="0000FF"/>
              </a:solidFill>
              <a:sym typeface="+mn-ea"/>
            </a:endParaRPr>
          </a:p>
        </p:txBody>
      </p:sp>
      <p:sp>
        <p:nvSpPr>
          <p:cNvPr id="21" name="文本框 20"/>
          <p:cNvSpPr txBox="1"/>
          <p:nvPr>
            <p:custDataLst>
              <p:tags r:id="rId21"/>
            </p:custDataLst>
          </p:nvPr>
        </p:nvSpPr>
        <p:spPr>
          <a:xfrm>
            <a:off x="1400334" y="6463030"/>
            <a:ext cx="20923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REG_PARAM = </a:t>
            </a:r>
            <a:r>
              <a:rPr lang="en-US" altLang="zh-CN">
                <a:solidFill>
                  <a:srgbClr val="0000FF"/>
                </a:solidFill>
                <a:sym typeface="+mn-ea"/>
              </a:rPr>
              <a:t>1</a:t>
            </a:r>
            <a:endParaRPr lang="en-US" altLang="zh-CN">
              <a:solidFill>
                <a:srgbClr val="0000FF"/>
              </a:solidFill>
              <a:sym typeface="+mn-ea"/>
            </a:endParaRPr>
          </a:p>
        </p:txBody>
      </p:sp>
      <p:sp>
        <p:nvSpPr>
          <p:cNvPr id="24" name="文本框 23"/>
          <p:cNvSpPr txBox="1"/>
          <p:nvPr>
            <p:custDataLst>
              <p:tags r:id="rId22"/>
            </p:custDataLst>
          </p:nvPr>
        </p:nvSpPr>
        <p:spPr>
          <a:xfrm>
            <a:off x="5055394" y="6463030"/>
            <a:ext cx="227012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REG_PARAM = </a:t>
            </a:r>
            <a:r>
              <a:rPr lang="en-US" altLang="zh-CN">
                <a:solidFill>
                  <a:srgbClr val="0000FF"/>
                </a:solidFill>
                <a:sym typeface="+mn-ea"/>
              </a:rPr>
              <a:t>0.1</a:t>
            </a:r>
            <a:endParaRPr lang="en-US" altLang="zh-CN">
              <a:solidFill>
                <a:srgbClr val="0000FF"/>
              </a:solidFill>
              <a:sym typeface="+mn-ea"/>
            </a:endParaRPr>
          </a:p>
        </p:txBody>
      </p:sp>
      <p:sp>
        <p:nvSpPr>
          <p:cNvPr id="25" name="文本框 24"/>
          <p:cNvSpPr txBox="1"/>
          <p:nvPr>
            <p:custDataLst>
              <p:tags r:id="rId23"/>
            </p:custDataLst>
          </p:nvPr>
        </p:nvSpPr>
        <p:spPr>
          <a:xfrm>
            <a:off x="8432165" y="6463030"/>
            <a:ext cx="34182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>
                <a:sym typeface="+mn-ea"/>
              </a:rPr>
              <a:t>REG_PARAM = </a:t>
            </a:r>
            <a:r>
              <a:rPr lang="en-US" altLang="zh-CN">
                <a:solidFill>
                  <a:srgbClr val="0000FF"/>
                </a:solidFill>
                <a:sym typeface="+mn-ea"/>
              </a:rPr>
              <a:t>0.01</a:t>
            </a:r>
            <a:endParaRPr lang="en-US" altLang="zh-CN">
              <a:solidFill>
                <a:srgbClr val="0000FF"/>
              </a:solidFill>
              <a:sym typeface="+mn-ea"/>
            </a:endParaRPr>
          </a:p>
        </p:txBody>
      </p:sp>
      <p:sp>
        <p:nvSpPr>
          <p:cNvPr id="26" name="文本框 25"/>
          <p:cNvSpPr txBox="1"/>
          <p:nvPr>
            <p:custDataLst>
              <p:tags r:id="rId24"/>
            </p:custDataLst>
          </p:nvPr>
        </p:nvSpPr>
        <p:spPr>
          <a:xfrm>
            <a:off x="1190625" y="4556125"/>
            <a:ext cx="9807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/>
              <a:t>Nidhal's experimental data was inverted using the </a:t>
            </a:r>
            <a:r>
              <a:rPr lang="en-US" altLang="zh-CN">
                <a:solidFill>
                  <a:srgbClr val="0000FF"/>
                </a:solidFill>
              </a:rPr>
              <a:t>BRD</a:t>
            </a:r>
            <a:r>
              <a:rPr lang="en-US" altLang="zh-CN">
                <a:solidFill>
                  <a:srgbClr val="0000FF"/>
                </a:solidFill>
              </a:rPr>
              <a:t> algorithm</a:t>
            </a:r>
            <a:r>
              <a:rPr lang="en-US" altLang="zh-CN"/>
              <a:t> via the </a:t>
            </a:r>
            <a:r>
              <a:rPr lang="en-US" altLang="zh-CN">
                <a:solidFill>
                  <a:srgbClr val="0000FF"/>
                </a:solidFill>
              </a:rPr>
              <a:t>Junwen</a:t>
            </a:r>
            <a:r>
              <a:rPr lang="en-US" altLang="zh-CN">
                <a:solidFill>
                  <a:srgbClr val="0000FF"/>
                </a:solidFill>
              </a:rPr>
              <a:t>’s code</a:t>
            </a:r>
            <a:endParaRPr lang="en-US" altLang="zh-CN">
              <a:solidFill>
                <a:srgbClr val="0000FF"/>
              </a:solidFill>
            </a:endParaRPr>
          </a:p>
        </p:txBody>
      </p:sp>
      <p:pic>
        <p:nvPicPr>
          <p:cNvPr id="27" name="图片 26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4153040" y="4849495"/>
            <a:ext cx="3959860" cy="1602975"/>
          </a:xfrm>
          <a:prstGeom prst="rect">
            <a:avLst/>
          </a:prstGeom>
        </p:spPr>
      </p:pic>
      <p:pic>
        <p:nvPicPr>
          <p:cNvPr id="29" name="图片 28"/>
          <p:cNvPicPr>
            <a:picLocks noChangeAspect="1"/>
          </p:cNvPicPr>
          <p:nvPr/>
        </p:nvPicPr>
        <p:blipFill>
          <a:blip r:embed="rId26"/>
          <a:stretch>
            <a:fillRect/>
          </a:stretch>
        </p:blipFill>
        <p:spPr>
          <a:xfrm>
            <a:off x="73660" y="4849495"/>
            <a:ext cx="3960000" cy="160297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27"/>
          <a:stretch>
            <a:fillRect/>
          </a:stretch>
        </p:blipFill>
        <p:spPr>
          <a:xfrm>
            <a:off x="8232280" y="4849495"/>
            <a:ext cx="3959860" cy="1602975"/>
          </a:xfrm>
          <a:prstGeom prst="rect">
            <a:avLst/>
          </a:prstGeom>
        </p:spPr>
      </p:pic>
    </p:spTree>
    <p:custDataLst>
      <p:tags r:id="rId28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2545" y="86995"/>
            <a:ext cx="999172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sym typeface="+mn-ea"/>
              </a:rPr>
              <a:t>Why Bin’s NNLS code’s results do not match with Chi’s NNLS code’s?</a:t>
            </a:r>
            <a:endParaRPr lang="en-US" altLang="zh-CN" sz="2000" b="1">
              <a:solidFill>
                <a:srgbClr val="0000FF"/>
              </a:solidFill>
              <a:sym typeface="+mn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85775" y="79184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buAutoNum type="arabicPeriod"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Regularization Matrix Differences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570" y="1466215"/>
            <a:ext cx="3560445" cy="65151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2165" y="1512570"/>
            <a:ext cx="2816225" cy="558800"/>
          </a:xfrm>
          <a:prstGeom prst="rect">
            <a:avLst/>
          </a:prstGeom>
        </p:spPr>
      </p:pic>
      <p:sp>
        <p:nvSpPr>
          <p:cNvPr id="8" name="文本框 7"/>
          <p:cNvSpPr txBox="1"/>
          <p:nvPr/>
        </p:nvSpPr>
        <p:spPr>
          <a:xfrm>
            <a:off x="1342390" y="2117725"/>
            <a:ext cx="2419985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en-US" altLang="zh-CN" sz="2000" b="1">
                <a:sym typeface="+mn-ea"/>
              </a:rPr>
              <a:t> Chi’s NNLS code</a:t>
            </a:r>
            <a:endParaRPr lang="en-US" altLang="zh-CN" sz="2000" b="1">
              <a:sym typeface="+mn-ea"/>
            </a:endParaRPr>
          </a:p>
          <a:p>
            <a:pPr algn="ctr"/>
            <a:r>
              <a:rPr lang="en-US" altLang="zh-CN" sz="2000" b="1">
                <a:solidFill>
                  <a:srgbClr val="0000FF"/>
                </a:solidFill>
                <a:sym typeface="+mn-ea"/>
              </a:rPr>
              <a:t>More rigorous</a:t>
            </a:r>
            <a:endParaRPr lang="en-US" altLang="zh-CN" sz="2000" b="1">
              <a:solidFill>
                <a:srgbClr val="0000FF"/>
              </a:solidFill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910455" y="2117725"/>
            <a:ext cx="245237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sym typeface="+mn-ea"/>
              </a:rPr>
              <a:t>Bin’s NNLS code</a:t>
            </a:r>
            <a:endParaRPr lang="en-US" altLang="zh-CN" sz="2000" b="1"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47370" y="2824480"/>
            <a:ext cx="1075880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>
              <a:buNone/>
            </a:pPr>
            <a:r>
              <a:rPr lang="en-US" altLang="zh-CN">
                <a:solidFill>
                  <a:schemeClr val="tx1"/>
                </a:solidFill>
                <a:sym typeface="+mn-ea"/>
              </a:rPr>
              <a:t>2.  Data Preprocessing Discrepancies: </a:t>
            </a:r>
            <a:r>
              <a:rPr lang="en-US" altLang="zh-CN" b="1">
                <a:sym typeface="+mn-ea"/>
              </a:rPr>
              <a:t>Chi’s NNLS code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performs decay tail cropping, moving average filtering, and logarithmic resampling. </a:t>
            </a:r>
            <a:r>
              <a:rPr lang="en-US" altLang="zh-CN" b="1">
                <a:sym typeface="+mn-ea"/>
              </a:rPr>
              <a:t>Bin’s NNLS code</a:t>
            </a:r>
            <a:r>
              <a:rPr lang="en-US" altLang="zh-CN">
                <a:solidFill>
                  <a:schemeClr val="tx1"/>
                </a:solidFill>
                <a:sym typeface="+mn-ea"/>
              </a:rPr>
              <a:t> applies raw measurement points without preprocessing, leading to fundamental inconsistencies in the input data matrices.</a:t>
            </a:r>
            <a:endParaRPr lang="en-US" altLang="zh-CN">
              <a:solidFill>
                <a:schemeClr val="tx1"/>
              </a:solidFill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47370" y="4221480"/>
            <a:ext cx="10384790" cy="1198880"/>
          </a:xfrm>
          <a:prstGeom prst="rect">
            <a:avLst/>
          </a:prstGeom>
        </p:spPr>
        <p:txBody>
          <a:bodyPr wrap="square">
            <a:spAutoFit/>
          </a:bodyPr>
          <a:p>
            <a:pPr algn="l">
              <a:buClrTx/>
              <a:buSzTx/>
              <a:buFontTx/>
            </a:pPr>
            <a:r>
              <a:rPr lang="en-US" altLang="zh-CN" sz="1800"/>
              <a:t>3.  Baseline and Weighting Mechanisms: </a:t>
            </a:r>
            <a:r>
              <a:rPr lang="en-US" altLang="zh-CN" b="1">
                <a:sym typeface="+mn-ea"/>
              </a:rPr>
              <a:t>Chi’s NNLS code</a:t>
            </a:r>
            <a:r>
              <a:rPr lang="en-US" altLang="zh-CN" sz="1800"/>
              <a:t> includes a baseline compensation column and noise standard deviation weighting. </a:t>
            </a:r>
            <a:r>
              <a:rPr lang="en-US" altLang="zh-CN" b="1">
                <a:sym typeface="+mn-ea"/>
              </a:rPr>
              <a:t>Bin’s NNLS code</a:t>
            </a:r>
            <a:r>
              <a:rPr lang="en-US" altLang="zh-CN" sz="1800"/>
              <a:t> lacks these features, making it susceptible to absorbing systematic bias or heteroscedastic noise into the inversion spectrum, thereby distorting peak positions and widths.</a:t>
            </a:r>
            <a:endParaRPr lang="en-US" altLang="zh-CN" sz="1800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2545" y="86995"/>
            <a:ext cx="66675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sym typeface="+mn-ea"/>
              </a:rPr>
              <a:t>How to find best alpha parameter by NNLS code?</a:t>
            </a:r>
            <a:endParaRPr lang="en-US" altLang="zh-CN" sz="2000" b="1">
              <a:solidFill>
                <a:srgbClr val="0000FF"/>
              </a:solidFill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950" y="3429000"/>
            <a:ext cx="8100695" cy="327914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950" y="0"/>
            <a:ext cx="4777528" cy="36000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361950" y="539115"/>
            <a:ext cx="6660515" cy="2799715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spcBef>
                <a:spcPct val="0"/>
              </a:spcBef>
              <a:spcAft>
                <a:spcPts val="0"/>
              </a:spcAft>
            </a:pPr>
            <a:r>
              <a:rPr lang="en-US" altLang="zh-CN" sz="1600" b="1"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1. Core Objective: Dual-Index Balancing</a:t>
            </a:r>
            <a:endParaRPr lang="en-US" altLang="zh-CN" sz="1600" b="1">
              <a:latin typeface="Arial" panose="020B0604020202020204" pitchFamily="34" charset="0"/>
              <a:ea typeface="Google Sans Text"/>
              <a:cs typeface="Arial" panose="020B0604020202020204" pitchFamily="34" charset="0"/>
            </a:endParaRPr>
          </a:p>
          <a:p>
            <a:pPr indent="0" fontAlgn="auto">
              <a:spcBef>
                <a:spcPct val="0"/>
              </a:spcBef>
              <a:spcAft>
                <a:spcPts val="0"/>
              </a:spcAft>
            </a:pPr>
            <a:r>
              <a:rPr lang="en-US" altLang="zh-CN" sz="1600"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Seek the optimal </a:t>
            </a:r>
            <a:r>
              <a:rPr lang="en-US" altLang="zh-CN" sz="1600" b="1"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alpha</a:t>
            </a:r>
            <a:r>
              <a:rPr lang="en-US" altLang="zh-CN" sz="1600"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 to achieve the best trade-off between </a:t>
            </a:r>
            <a:r>
              <a:rPr lang="en-US" altLang="zh-CN" sz="1600" b="1"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fitting error</a:t>
            </a:r>
            <a:r>
              <a:rPr lang="en-US" altLang="zh-CN" sz="1600"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 (accuracy) and </a:t>
            </a:r>
            <a:r>
              <a:rPr lang="en-US" altLang="zh-CN" sz="1600" b="1"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model roughness</a:t>
            </a:r>
            <a:r>
              <a:rPr lang="en-US" altLang="zh-CN" sz="1600"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 (smoothness).</a:t>
            </a:r>
            <a:endParaRPr lang="en-US" altLang="zh-CN" sz="1600">
              <a:latin typeface="Arial" panose="020B0604020202020204" pitchFamily="34" charset="0"/>
              <a:ea typeface="Google Sans Text"/>
              <a:cs typeface="Arial" panose="020B0604020202020204" pitchFamily="34" charset="0"/>
            </a:endParaRPr>
          </a:p>
          <a:p>
            <a:pPr indent="0" fontAlgn="auto">
              <a:spcBef>
                <a:spcPct val="0"/>
              </a:spcBef>
              <a:spcAft>
                <a:spcPts val="0"/>
              </a:spcAft>
            </a:pPr>
            <a:endParaRPr lang="en-US" altLang="zh-CN" sz="1600">
              <a:latin typeface="Arial" panose="020B0604020202020204" pitchFamily="34" charset="0"/>
              <a:ea typeface="Google Sans Text"/>
              <a:cs typeface="Arial" panose="020B0604020202020204" pitchFamily="34" charset="0"/>
            </a:endParaRPr>
          </a:p>
          <a:p>
            <a:pPr indent="0" fontAlgn="auto">
              <a:spcBef>
                <a:spcPct val="0"/>
              </a:spcBef>
              <a:spcAft>
                <a:spcPts val="0"/>
              </a:spcAft>
            </a:pPr>
            <a:r>
              <a:rPr lang="en-US" altLang="zh-CN" sz="1600" b="1"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2. Operational Logic: Batch Iteration</a:t>
            </a:r>
            <a:endParaRPr lang="en-US" altLang="zh-CN" sz="1600" b="1">
              <a:latin typeface="Arial" panose="020B0604020202020204" pitchFamily="34" charset="0"/>
              <a:ea typeface="Google Sans Text"/>
              <a:cs typeface="Arial" panose="020B0604020202020204" pitchFamily="34" charset="0"/>
            </a:endParaRPr>
          </a:p>
          <a:p>
            <a:pPr indent="0" fontAlgn="auto">
              <a:spcBef>
                <a:spcPct val="0"/>
              </a:spcBef>
              <a:spcAft>
                <a:spcPts val="0"/>
              </a:spcAft>
            </a:pPr>
            <a:r>
              <a:rPr lang="en-US" altLang="zh-CN" sz="1600"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Substitute a sequence of increasing </a:t>
            </a:r>
            <a:r>
              <a:rPr lang="en-US" altLang="zh-CN" sz="1600" b="1"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alpha</a:t>
            </a:r>
            <a:r>
              <a:rPr lang="en-US" altLang="zh-CN" sz="1600"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 values to simultaneously calculate the </a:t>
            </a:r>
            <a:r>
              <a:rPr lang="en-US" altLang="zh-CN" sz="1600" b="1"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error term</a:t>
            </a:r>
            <a:r>
              <a:rPr lang="en-US" altLang="zh-CN" sz="1600"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 and </a:t>
            </a:r>
            <a:r>
              <a:rPr lang="en-US" altLang="zh-CN" sz="1600" b="1"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roughness term</a:t>
            </a:r>
            <a:r>
              <a:rPr lang="en-US" altLang="zh-CN" sz="1600"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 for each parameter set.</a:t>
            </a:r>
            <a:endParaRPr lang="en-US" altLang="zh-CN" sz="1600">
              <a:latin typeface="Arial" panose="020B0604020202020204" pitchFamily="34" charset="0"/>
              <a:ea typeface="Google Sans Text"/>
              <a:cs typeface="Arial" panose="020B0604020202020204" pitchFamily="34" charset="0"/>
            </a:endParaRPr>
          </a:p>
          <a:p>
            <a:pPr indent="0" fontAlgn="auto">
              <a:spcBef>
                <a:spcPct val="0"/>
              </a:spcBef>
              <a:spcAft>
                <a:spcPts val="0"/>
              </a:spcAft>
            </a:pPr>
            <a:endParaRPr lang="en-US" altLang="zh-CN" sz="1600">
              <a:latin typeface="Arial" panose="020B0604020202020204" pitchFamily="34" charset="0"/>
              <a:ea typeface="Google Sans Text"/>
              <a:cs typeface="Arial" panose="020B0604020202020204" pitchFamily="34" charset="0"/>
            </a:endParaRPr>
          </a:p>
          <a:p>
            <a:pPr indent="0" fontAlgn="auto">
              <a:spcBef>
                <a:spcPct val="0"/>
              </a:spcBef>
              <a:spcAft>
                <a:spcPts val="0"/>
              </a:spcAft>
            </a:pPr>
            <a:r>
              <a:rPr lang="en-US" altLang="zh-CN" sz="1600" b="1"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3. Optimization Mechanism: L-Curve Corner</a:t>
            </a:r>
            <a:endParaRPr lang="en-US" altLang="zh-CN" sz="1600" b="1">
              <a:latin typeface="Arial" panose="020B0604020202020204" pitchFamily="34" charset="0"/>
              <a:ea typeface="Google Sans Text"/>
              <a:cs typeface="Arial" panose="020B0604020202020204" pitchFamily="34" charset="0"/>
            </a:endParaRPr>
          </a:p>
          <a:p>
            <a:pPr indent="0" fontAlgn="auto">
              <a:spcBef>
                <a:spcPct val="0"/>
              </a:spcBef>
              <a:spcAft>
                <a:spcPts val="0"/>
              </a:spcAft>
            </a:pPr>
            <a:r>
              <a:rPr lang="en-US" altLang="zh-CN" sz="1600"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Plot the error against roughness to identify the </a:t>
            </a:r>
            <a:r>
              <a:rPr lang="en-US" altLang="zh-CN" sz="1600" b="1"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maximum curvature point (corner)</a:t>
            </a:r>
            <a:r>
              <a:rPr lang="en-US" altLang="zh-CN" sz="1600">
                <a:latin typeface="Arial" panose="020B0604020202020204" pitchFamily="34" charset="0"/>
                <a:ea typeface="Google Sans Text"/>
                <a:cs typeface="Arial" panose="020B0604020202020204" pitchFamily="34" charset="0"/>
              </a:rPr>
              <a:t> of the L-shaped curve, locking in the balanced solution.</a:t>
            </a:r>
            <a:endParaRPr lang="en-US" altLang="zh-CN" sz="1600">
              <a:latin typeface="Arial" panose="020B0604020202020204" pitchFamily="34" charset="0"/>
              <a:ea typeface="Google Sans Text"/>
              <a:cs typeface="Arial" panose="020B0604020202020204" pitchFamily="34" charset="0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2545" y="86995"/>
            <a:ext cx="829627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solidFill>
                  <a:schemeClr val="tx1"/>
                </a:solidFill>
                <a:sym typeface="+mn-ea"/>
              </a:rPr>
              <a:t>Transcribe Chi's NNLS algorithm into Python.</a:t>
            </a:r>
            <a:endParaRPr lang="en-US" altLang="zh-CN" sz="2000" b="1">
              <a:solidFill>
                <a:schemeClr val="tx1"/>
              </a:solidFill>
              <a:sym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2545" y="855345"/>
            <a:ext cx="6480810" cy="2499360"/>
            <a:chOff x="4827" y="1182"/>
            <a:chExt cx="10206" cy="3936"/>
          </a:xfrm>
        </p:grpSpPr>
        <p:pic>
          <p:nvPicPr>
            <p:cNvPr id="5" name="图片 4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4827" y="1182"/>
              <a:ext cx="10206" cy="3936"/>
            </a:xfrm>
            <a:prstGeom prst="rect">
              <a:avLst/>
            </a:prstGeom>
          </p:spPr>
        </p:pic>
        <p:sp>
          <p:nvSpPr>
            <p:cNvPr id="7" name="矩形 6"/>
            <p:cNvSpPr/>
            <p:nvPr/>
          </p:nvSpPr>
          <p:spPr>
            <a:xfrm>
              <a:off x="5321" y="2497"/>
              <a:ext cx="2745" cy="2467"/>
            </a:xfrm>
            <a:prstGeom prst="rect">
              <a:avLst/>
            </a:prstGeom>
            <a:noFill/>
            <a:ln w="28575" cmpd="thickThin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123825" y="3862705"/>
            <a:ext cx="6038850" cy="2526030"/>
            <a:chOff x="4477" y="5678"/>
            <a:chExt cx="9510" cy="3978"/>
          </a:xfrm>
        </p:grpSpPr>
        <p:pic>
          <p:nvPicPr>
            <p:cNvPr id="6" name="图片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77" y="5678"/>
              <a:ext cx="9510" cy="3978"/>
            </a:xfrm>
            <a:prstGeom prst="rect">
              <a:avLst/>
            </a:prstGeom>
          </p:spPr>
        </p:pic>
        <p:sp>
          <p:nvSpPr>
            <p:cNvPr id="8" name="矩形 7"/>
            <p:cNvSpPr/>
            <p:nvPr/>
          </p:nvSpPr>
          <p:spPr>
            <a:xfrm>
              <a:off x="4477" y="6434"/>
              <a:ext cx="4266" cy="3037"/>
            </a:xfrm>
            <a:prstGeom prst="rect">
              <a:avLst/>
            </a:prstGeom>
            <a:noFill/>
            <a:ln w="28575" cmpd="thickThin">
              <a:solidFill>
                <a:srgbClr val="FF0000"/>
              </a:solidFill>
              <a:prstDash val="solid"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7780" y="3939540"/>
            <a:ext cx="5760000" cy="233160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4760" y="1022985"/>
            <a:ext cx="5760000" cy="2331600"/>
          </a:xfrm>
          <a:prstGeom prst="rect">
            <a:avLst/>
          </a:prstGeom>
        </p:spPr>
      </p:pic>
      <p:sp>
        <p:nvSpPr>
          <p:cNvPr id="13" name="文本框 12"/>
          <p:cNvSpPr txBox="1"/>
          <p:nvPr/>
        </p:nvSpPr>
        <p:spPr>
          <a:xfrm>
            <a:off x="3657600" y="3354705"/>
            <a:ext cx="609600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sym typeface="+mn-ea"/>
              </a:rPr>
              <a:t>Chi's NNLS MATLAB code</a:t>
            </a:r>
            <a:endParaRPr lang="en-US" altLang="zh-CN" sz="2000" b="1">
              <a:sym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657600" y="6388735"/>
            <a:ext cx="471043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sym typeface="+mn-ea"/>
              </a:rPr>
              <a:t>Chi's NNLS </a:t>
            </a:r>
            <a:r>
              <a:rPr lang="en-US" altLang="zh-CN" sz="2000" b="1">
                <a:sym typeface="+mn-ea"/>
              </a:rPr>
              <a:t>Transcribed Python</a:t>
            </a:r>
            <a:r>
              <a:rPr lang="en-US" altLang="zh-CN" sz="2000" b="1">
                <a:sym typeface="+mn-ea"/>
              </a:rPr>
              <a:t> code</a:t>
            </a:r>
            <a:endParaRPr lang="en-US" altLang="zh-CN" sz="2000" b="1">
              <a:sym typeface="+mn-ea"/>
            </a:endParaRPr>
          </a:p>
        </p:txBody>
      </p:sp>
    </p:spTree>
    <p:custDataLst>
      <p:tags r:id="rId5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42545" y="86995"/>
            <a:ext cx="8296275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solidFill>
                  <a:schemeClr val="tx1"/>
                </a:solidFill>
                <a:sym typeface="+mn-ea"/>
              </a:rPr>
              <a:t>Note:</a:t>
            </a:r>
            <a:r>
              <a:rPr lang="en-US" altLang="zh-CN" sz="2000" b="1">
                <a:solidFill>
                  <a:srgbClr val="FF0000"/>
                </a:solidFill>
                <a:sym typeface="+mn-ea"/>
              </a:rPr>
              <a:t> A fixed smoothing factor</a:t>
            </a:r>
            <a:r>
              <a:rPr lang="en-US" altLang="zh-CN" sz="2000" b="1">
                <a:solidFill>
                  <a:schemeClr val="tx1"/>
                </a:solidFill>
                <a:sym typeface="+mn-ea"/>
              </a:rPr>
              <a:t> works better for simulated data.</a:t>
            </a:r>
            <a:endParaRPr lang="en-US" altLang="zh-CN" sz="2000" b="1">
              <a:solidFill>
                <a:schemeClr val="tx1"/>
              </a:solidFill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3790" y="3943985"/>
            <a:ext cx="5760000" cy="2331600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45" y="3943985"/>
            <a:ext cx="5760000" cy="233160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155" y="684530"/>
            <a:ext cx="3822385" cy="2880000"/>
          </a:xfrm>
          <a:prstGeom prst="rect">
            <a:avLst/>
          </a:prstGeom>
        </p:spPr>
      </p:pic>
      <p:pic>
        <p:nvPicPr>
          <p:cNvPr id="8" name="图片 7" descr="concentration_0086"/>
          <p:cNvPicPr>
            <a:picLocks noChangeAspect="1"/>
          </p:cNvPicPr>
          <p:nvPr/>
        </p:nvPicPr>
        <p:blipFill>
          <a:blip r:embed="rId4"/>
          <a:srcRect l="-908" t="16045" r="475" b="14664"/>
          <a:stretch>
            <a:fillRect/>
          </a:stretch>
        </p:blipFill>
        <p:spPr>
          <a:xfrm>
            <a:off x="6315075" y="684530"/>
            <a:ext cx="4769789" cy="2880000"/>
          </a:xfrm>
          <a:prstGeom prst="rect">
            <a:avLst/>
          </a:prstGeom>
        </p:spPr>
      </p:pic>
    </p:spTree>
    <p:custDataLst>
      <p:tags r:id="rId5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batch_inversion_result_figures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328160" y="3486785"/>
            <a:ext cx="7425055" cy="2880000"/>
          </a:xfrm>
          <a:prstGeom prst="rect">
            <a:avLst/>
          </a:prstGeom>
        </p:spPr>
      </p:pic>
      <p:pic>
        <p:nvPicPr>
          <p:cNvPr id="5" name="batch_inversion_result_figures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347345" y="3486785"/>
            <a:ext cx="3821920" cy="2880000"/>
          </a:xfrm>
          <a:prstGeom prst="rect">
            <a:avLst/>
          </a:prstGeom>
        </p:spPr>
      </p:pic>
      <p:pic>
        <p:nvPicPr>
          <p:cNvPr id="6" name="batch_inversion_result_figures">
            <a:hlinkClick r:id="" action="ppaction://media"/>
          </p:cNvPr>
          <p:cNvPicPr>
            <a:picLocks noChangeAspect="1"/>
          </p:cNvPicPr>
          <p:nvPr>
            <a:videoFile r:link="rId7"/>
            <p:extLst>
              <p:ext uri="{DAA4B4D4-6D71-4841-9C94-3DE7FCFB9230}">
                <p14:media xmlns:p14="http://schemas.microsoft.com/office/powerpoint/2010/main" r:embed="rId8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2868295" y="629285"/>
            <a:ext cx="5760000" cy="233160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4697095" y="137795"/>
            <a:ext cx="1540510" cy="3987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000" b="1">
                <a:sym typeface="+mn-ea"/>
              </a:rPr>
              <a:t>Pe=0.1</a:t>
            </a:r>
            <a:endParaRPr lang="en-US" altLang="zh-CN" sz="2000" b="1">
              <a:sym typeface="+mn-ea"/>
            </a:endParaRPr>
          </a:p>
        </p:txBody>
      </p:sp>
    </p:spTree>
    <p:custDataLst>
      <p:tags r:id="rId10"/>
    </p:custDataLst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 fullScrn="0">
              <p:cMediaNode>
                <p:cTn id="8" fill="hold" display="1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9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3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 fullScrn="0">
              <p:cMediaNode>
                <p:cTn id="14" fill="hold" display="1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15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6" fill="hold">
                      <p:stCondLst>
                        <p:cond delay="0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19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72.xml><?xml version="1.0" encoding="utf-8"?>
<p:tagLst xmlns:p="http://schemas.openxmlformats.org/presentationml/2006/main">
  <p:tag name="KSO_WM_DIAGRAM_VIRTUALLY_FRAME" val="{&quot;height&quot;:550.7,&quot;left&quot;:2.75,&quot;top&quot;:0,&quot;width&quot;:957.8610236220472}"/>
</p:tagLst>
</file>

<file path=ppt/tags/tag73.xml><?xml version="1.0" encoding="utf-8"?>
<p:tagLst xmlns:p="http://schemas.openxmlformats.org/presentationml/2006/main">
  <p:tag name="KSO_WM_DIAGRAM_VIRTUALLY_FRAME" val="{&quot;height&quot;:550.7,&quot;left&quot;:2.75,&quot;top&quot;:0,&quot;width&quot;:957.8610236220472}"/>
</p:tagLst>
</file>

<file path=ppt/tags/tag74.xml><?xml version="1.0" encoding="utf-8"?>
<p:tagLst xmlns:p="http://schemas.openxmlformats.org/presentationml/2006/main">
  <p:tag name="KSO_WM_DIAGRAM_VIRTUALLY_FRAME" val="{&quot;height&quot;:550.7,&quot;left&quot;:2.75,&quot;top&quot;:0,&quot;width&quot;:957.8610236220472}"/>
</p:tagLst>
</file>

<file path=ppt/tags/tag75.xml><?xml version="1.0" encoding="utf-8"?>
<p:tagLst xmlns:p="http://schemas.openxmlformats.org/presentationml/2006/main">
  <p:tag name="KSO_WM_DIAGRAM_VIRTUALLY_FRAME" val="{&quot;height&quot;:550.7,&quot;left&quot;:2.75,&quot;top&quot;:0,&quot;width&quot;:957.8610236220472}"/>
</p:tagLst>
</file>

<file path=ppt/tags/tag76.xml><?xml version="1.0" encoding="utf-8"?>
<p:tagLst xmlns:p="http://schemas.openxmlformats.org/presentationml/2006/main">
  <p:tag name="KSO_WM_DIAGRAM_VIRTUALLY_FRAME" val="{&quot;height&quot;:550.7,&quot;left&quot;:2.75,&quot;top&quot;:0,&quot;width&quot;:957.8610236220472}"/>
</p:tagLst>
</file>

<file path=ppt/tags/tag77.xml><?xml version="1.0" encoding="utf-8"?>
<p:tagLst xmlns:p="http://schemas.openxmlformats.org/presentationml/2006/main">
  <p:tag name="KSO_WM_DIAGRAM_VIRTUALLY_FRAME" val="{&quot;height&quot;:550.7,&quot;left&quot;:2.75,&quot;top&quot;:0,&quot;width&quot;:957.8610236220472}"/>
</p:tagLst>
</file>

<file path=ppt/tags/tag78.xml><?xml version="1.0" encoding="utf-8"?>
<p:tagLst xmlns:p="http://schemas.openxmlformats.org/presentationml/2006/main">
  <p:tag name="KSO_WM_DIAGRAM_VIRTUALLY_FRAME" val="{&quot;height&quot;:550.7,&quot;left&quot;:2.75,&quot;top&quot;:0,&quot;width&quot;:957.8610236220472}"/>
</p:tagLst>
</file>

<file path=ppt/tags/tag79.xml><?xml version="1.0" encoding="utf-8"?>
<p:tagLst xmlns:p="http://schemas.openxmlformats.org/presentationml/2006/main">
  <p:tag name="KSO_WM_DIAGRAM_VIRTUALLY_FRAME" val="{&quot;height&quot;:550.7,&quot;left&quot;:2.75,&quot;top&quot;:0,&quot;width&quot;:957.8610236220472}"/>
</p:tagLst>
</file>

<file path=ppt/tags/tag80.xml><?xml version="1.0" encoding="utf-8"?>
<p:tagLst xmlns:p="http://schemas.openxmlformats.org/presentationml/2006/main">
  <p:tag name="KSO_WM_DIAGRAM_VIRTUALLY_FRAME" val="{&quot;height&quot;:550.7,&quot;left&quot;:2.75,&quot;top&quot;:0,&quot;width&quot;:957.8610236220472}"/>
</p:tagLst>
</file>

<file path=ppt/tags/tag81.xml><?xml version="1.0" encoding="utf-8"?>
<p:tagLst xmlns:p="http://schemas.openxmlformats.org/presentationml/2006/main">
  <p:tag name="KSO_WM_DIAGRAM_VIRTUALLY_FRAME" val="{&quot;height&quot;:550.7,&quot;left&quot;:2.75,&quot;top&quot;:0,&quot;width&quot;:957.8610236220472}"/>
</p:tagLst>
</file>

<file path=ppt/tags/tag82.xml><?xml version="1.0" encoding="utf-8"?>
<p:tagLst xmlns:p="http://schemas.openxmlformats.org/presentationml/2006/main">
  <p:tag name="KSO_WM_DIAGRAM_VIRTUALLY_FRAME" val="{&quot;height&quot;:550.7,&quot;left&quot;:2.75,&quot;top&quot;:0,&quot;width&quot;:957.8610236220472}"/>
</p:tagLst>
</file>

<file path=ppt/tags/tag83.xml><?xml version="1.0" encoding="utf-8"?>
<p:tagLst xmlns:p="http://schemas.openxmlformats.org/presentationml/2006/main">
  <p:tag name="KSO_WM_DIAGRAM_VIRTUALLY_FRAME" val="{&quot;height&quot;:550.7,&quot;left&quot;:2.75,&quot;top&quot;:0,&quot;width&quot;:957.8610236220472}"/>
</p:tagLst>
</file>

<file path=ppt/tags/tag84.xml><?xml version="1.0" encoding="utf-8"?>
<p:tagLst xmlns:p="http://schemas.openxmlformats.org/presentationml/2006/main">
  <p:tag name="KSO_WM_DIAGRAM_VIRTUALLY_FRAME" val="{&quot;height&quot;:550.7,&quot;left&quot;:2.75,&quot;top&quot;:0,&quot;width&quot;:957.8610236220472}"/>
</p:tagLst>
</file>

<file path=ppt/tags/tag85.xml><?xml version="1.0" encoding="utf-8"?>
<p:tagLst xmlns:p="http://schemas.openxmlformats.org/presentationml/2006/main">
  <p:tag name="KSO_WM_DIAGRAM_VIRTUALLY_FRAME" val="{&quot;height&quot;:550.7,&quot;left&quot;:2.75,&quot;top&quot;:0,&quot;width&quot;:957.8610236220472}"/>
</p:tagLst>
</file>

<file path=ppt/tags/tag86.xml><?xml version="1.0" encoding="utf-8"?>
<p:tagLst xmlns:p="http://schemas.openxmlformats.org/presentationml/2006/main">
  <p:tag name="KSO_WM_DIAGRAM_VIRTUALLY_FRAME" val="{&quot;height&quot;:550.7,&quot;left&quot;:2.75,&quot;top&quot;:0,&quot;width&quot;:957.8610236220472}"/>
</p:tagLst>
</file>

<file path=ppt/tags/tag87.xml><?xml version="1.0" encoding="utf-8"?>
<p:tagLst xmlns:p="http://schemas.openxmlformats.org/presentationml/2006/main">
  <p:tag name="KSO_WM_DIAGRAM_VIRTUALLY_FRAME" val="{&quot;height&quot;:550.7,&quot;left&quot;:2.75,&quot;top&quot;:0,&quot;width&quot;:957.8610236220472}"/>
</p:tagLst>
</file>

<file path=ppt/tags/tag88.xml><?xml version="1.0" encoding="utf-8"?>
<p:tagLst xmlns:p="http://schemas.openxmlformats.org/presentationml/2006/main">
  <p:tag name="KSO_WM_DIAGRAM_VIRTUALLY_FRAME" val="{&quot;height&quot;:550.7,&quot;left&quot;:2.75,&quot;top&quot;:0,&quot;width&quot;:957.8610236220472}"/>
</p:tagLst>
</file>

<file path=ppt/tags/tag89.xml><?xml version="1.0" encoding="utf-8"?>
<p:tagLst xmlns:p="http://schemas.openxmlformats.org/presentationml/2006/main">
  <p:tag name="KSO_WM_DIAGRAM_VIRTUALLY_FRAME" val="{&quot;height&quot;:550.7,&quot;left&quot;:2.75,&quot;top&quot;:0,&quot;width&quot;:957.8610236220472}"/>
</p:tagLst>
</file>

<file path=ppt/tags/tag9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91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2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4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95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4868</Words>
  <Application>WPS 演示</Application>
  <PresentationFormat>宽屏</PresentationFormat>
  <Paragraphs>211</Paragraphs>
  <Slides>15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6" baseType="lpstr">
      <vt:lpstr>Arial</vt:lpstr>
      <vt:lpstr>SimSun</vt:lpstr>
      <vt:lpstr>Wingdings</vt:lpstr>
      <vt:lpstr>Wingdings</vt:lpstr>
      <vt:lpstr>Google Sans Text</vt:lpstr>
      <vt:lpstr>AMGDT</vt:lpstr>
      <vt:lpstr>Microsoft YaHei</vt:lpstr>
      <vt:lpstr>Arial Unicode MS</vt:lpstr>
      <vt:lpstr>Calibri</vt:lpstr>
      <vt:lpstr>Google Sans Text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Bin</cp:lastModifiedBy>
  <cp:revision>160</cp:revision>
  <dcterms:created xsi:type="dcterms:W3CDTF">2019-06-19T02:08:00Z</dcterms:created>
  <dcterms:modified xsi:type="dcterms:W3CDTF">2026-03-27T17:38:25Z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38F91E92C57E40EEA09EA9AAFDB3CCA3_11</vt:lpwstr>
  </property>
</Properties>
</file>